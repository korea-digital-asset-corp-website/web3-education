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안녕하세요, 한화증권 블록체인 교육에 오신 것을 환영합니다.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약 2시간 동안 '기관용 블록체인 키 관리: 보안 레벨의 진화'라는 주제로 강의를 진행합니다.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강의의 핵심은 하나의 질문입니다: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"블록체인에서 키를 어떻게 관리해야 기관 수준의 보안을 달성할 수 있는가?"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보안 레벨 1부터 6까지, 단계적으로 보안이 강화되는 과정을 따라가며,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레벨에서 실제 해킹 사례를 통해 "왜 다음 레벨이 필요한가"를 체감하실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이론과 실습을 교차하면서 진행하기 때문에, 직접 손으로 경험하면서 개념을 체득할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전체 일정을 보시면, 보안 레벨 1에서 6까지 단계적으로 올라가는 구조입니다.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1 (15분): 가장 기본적인 단일 키(EOA)의 구조와 한계를 살펴보고, 실제 해킹 사례로 위험을 체감합니다.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2 (30분): Level 2 Multi-sig부터 Level 5 Quorum HSM까지, 각 기술이 이전 레벨의 한계를 어떻게 극복하는지 비교합니다.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파트가 가장 핵심이므로 충분한 시간을 배정했습니다. 특히 Securosys Primus HSM 설명에 여유를 두었습니다.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1 (25분): Safe Multi-sig를 직접 배포하고 키 교체를 체험합니다.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5분 휴식 후,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 (15분): ERC-4337과 EIP-7702를 비교하고, Level 6 기관급 키관리·자산관리 모델을 다룹니다.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2 (20분): ERC-4337 Smart Account 실습과 EIP-7702 EOA 업그레이드를 각각 체험합니다.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마지막으로 전체 보안 레벨을 종합하고 Q&amp;A로 마무리합니다. 총 120분입니다.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1을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블록체인의 가장 기본적인 계정 구조인 EOA — Externally Owned Account를 살펴보겠습니다.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구조가 왜 기관에게 치명적인 위험을 안겨주는지, 실제 해킹 사례를 통해 확인합니다.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EOA — Externally Owned Account는 블록체인의 가장 기본적인 계정 유형입니다.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문제는 이것입니다: 하나의 개인키가 계정, 자산, 서명 권한, 복구 수단을 모두 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이것이 바로 Single Point of Failure입니다.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기관 관점에서 보면 5가지 구조적 한계가 있습니다: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키 교체 불가 — 키가 곧 주소이므로, 키 유출 시 주소 자체를 버려야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권한 분리 불가 — 거래소 CEO와 신입사원이 동일한 키로 서명합니다.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다자 승인 불가 — 한 사람이 수십억 원을 혼자 이체할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복구 불가 — 키를 분실하면 영구적으로 자산에 접근할 수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감사 추적 불가 — 누가 서명했는지 온체인에 기록이 남지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구조에서 기관이 자산을 안전하게 관리하는 것은 구조적으로 불가능합니다.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1의 실제 피해 사례를 3가지 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Atomic Wallet (2023): 서버에 저장된 암호화 키가 유출되어, 5,500개 이상의 지갑에서 1억 달러 이상이 탈취되었습니다.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(출처: Elliptic 블록체인 분석 리포트 — $100M 이상으로 추정, 북한 라자루스 그룹 소행)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Wintermute (2022): vanity address — 0x0000으로 시작하는 멋진 주소를 만드는 Profanity 툴의 취약점으로 개인키가 복원되었습니다.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(출처: Etherscan 온체인 확인, 정확히 $162.2M)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DMM Bitcoin (2024): 일본 거래소 서버가 해킹되어 핫월렛의 개인키가 직접 탈취되었습니다. 4,502.9 BTC.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(출처: 일본 금융청(FSA) 공식 발표, 피해액 약 482억엔 ≈ $308M)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세 사례의 공통점은 명확합니다: 키 하나를 뚫으면 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키 구조에서는 그 키를 어떻게 보관하든, 결국 하나의 공격 지점이 존재합니다.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해결책은? 키를 분산하는 것입니다. 이것이 Level 2로 가는 이유입니다.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여기서 패러다임 전환이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기존의 "키 관리"는 "키를 어디에 보관할까?"라는 질문에 집중합니다.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금고, USB, 서버, 하드웨어 월렛... 보관 장소만 바꿀 뿐, 구조적 문제는 그대로입니다.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"키 아키텍처"는 근본적으로 다른 질문을 합니다: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서명 권한을 어떻게 분리할까?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키를 교체할 수 있는가?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다자 승인은 어떻게 구현할까?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이제 보안 레벨 2부터 6까지, 각 기술이 이 질문들에 어떻게 답하는지 살펴보겠습니다.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레벨은 이전 레벨의 한계를 극복하기 위해 등장했습니다.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2를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이제 Level 2 Multi-sig부터 Level 5 Quorum HSM까지,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기술이 어떻게 이전 레벨의 한계를 극복하는지 살펴보겠습니다.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핵심은 각 레벨의 해킹 사례입니다.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"이 기술이 있었는데도 왜 뚫렸나?" → "다음 레벨이 왜 필요한가?"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흐름을 따라가겠습니다.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2는 Multi-sig — 대표적으로 Safe(구 Gnosis Safe)입니다.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핵심은 M-of-N 온체인 승인입니다. 예를 들어 3명 중 2명이 서명해야 트랜잭션이 실행됩니다.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1 대비 큰 개선점: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swapOwner로 키를 완전히 교체할 수 있습니다. 키가 더 이상 주소가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다자 승인이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Guardian을 통한 사회적 복구가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하지만 남은 한계가 있습니다: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서명자의 개인키는 여전히 소프트웨어(PC, 브라우저)에 존재합니다.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서명자의 PC가 감염되면 키가 탈취될 수 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키를 한 조직이 다수 보유하면 Multi-sig의 의미가 사라집니다.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한계를 보여주는 실제 사례를 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Multi-sig가 있어도 뚫린 3가지 사례입니다.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Ronin Bridge (2022, $625M): 5/9 Multi-sig였지만, 5개 키를 한 조직(Sky Mavis)이 보유했습니다.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키는 분산됐지만 조직은 분산되지 않았습니다. 북한 라자루스 그룹이 이 5개 키를 탈취해 6.25억 달러를 빼갔습니다.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Bybit (2025.2, $1.5B): Safe Multi-sig를 사용 중이었는데, 공급망 공격으로 Safe{Wallet} 프론트엔드 인프라 자체가 변조되었습니다.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구체적으로, 공격자(라자루스 그룹)가 Safe{Wallet} 개발자의 PC를 침투해 프론트엔드 JavaScript 코드를 변조했습니다.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Bybit 콜드월렛 서명자들이 Safe UI에 접속했을 때, 정상 트랜잭션으로 위장된 악성 트랜잭션이 표시되었고,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서명자들은 이를 정상으로 착각하고 서명했습니다.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중요: 이 사건은 Multi-sig 프로토콜 자체의 결함이 아닙니다.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서명 환경(UI 인프라)이 감염되면, 어떤 Multi-sig든 서명자가 속을 수 있다는 것을 보여줍니다.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Parity (2017, $150M 동결): Multi-sig 라이브러리 컨트랙트가 실수로 파괴되어, 1.5억 달러가 영구 동결되었습니다.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종합하면: Multi-sig 프로토콜 자체는 안전하지만, 서명 환경(UI, 키 보관)이 감염되면 무력화됩니다.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키 자체를 분산 보호하는 기술이 필요합니다. 그것이 Level 3, MPC입니다.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3는 MPC — Multi-Party Computation, 그 중에서도 TSS(Threshold Signature Scheme)입니다.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원리: 개인키를 여러 조각(share)으로 분산합니다.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어떤 노드도 완전한 키를 보유하지 않고, T-of-N 노드가 협력해야 서명을 생성합니다.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키가 단일 지점에서 복원되지 않는 것이 핵심입니다.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 대비 개선: 서명자 PC가 감염돼도 키 조각 1개만 노출됩니다.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하지만 결정적 한계가 있습니다: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온체인에는 일반 EOA 트랜잭션으로 제출됩니다. → 온체인에서 감사, 통제, 복구가 불가능합니다.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키 share가 소프트웨어 메모리에 존재합니다. 서버를 침투하면 share를 탈취할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내부자가 다수의 share를 통제하면 MPC도 무력화됩니다.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 슬라이드에서 이 한계를 보여주는 사례를 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FTX 사태는 MPC/오프체인 키 관리의 한계를 극명하게 보여줍니다.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FTX는 내부 키 관리 시스템을 사용했는데, CEO Sam Bankman-Fried가 키 조각 다수를 통제했습니다.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결과적으로 80억 달러 이상의 고객 자금을 자매사 Alameda Research로 전용했습니다.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온체인 감사 메커니즘이 없었기 때문에, 자금 이동이 외부에서 감시되지 않았습니다.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이사회나 외부 감시자가 키를 통제하지도 않았습니다.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교훈: 소프트웨어 레벨에서 키를 보호하는 것은 한계가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내부자가 소프트웨어를 통제하면 MPC든 Multi-sig든 무력화됩니다.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 단계는 키를 하드웨어 안에 가두는 것입니다. Level 4, HSM으로 가겠습니다.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4는 HSM — Hardware Security Module입니다.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FIPS 140-2 Level 3 인증을 받은 하드웨어로, 키가 하드웨어 내부에서 생성되고 절대 외부로 추출되지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물리적으로 침투를 시도하면 탬퍼 감지 메커니즘이 작동해 키를 파괴합니다.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3 대비 결정적 개선: 서버를 침투해도 키를 추출할 수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Coinbase, Kraken 같은 대형 거래소가 HSM을 사용합니다.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하지만 남은 한계가 있습니다: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단일 HSM 안에 단일 키가 있고, HSM에 접근 권한이 있는 사람이 단독으로 서명할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다자 승인이 필요하면 소프트웨어 레이어에서 구현해야 하는데, 이 소프트웨어를 우회하면 다자 승인이 무력화됩니다.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해결책은? 다자 승인을 소프트웨어가 아니라 하드웨어 내부에서 강제하는 것입니다.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그것이 Level 5, Quorum HSM입니다.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5는 Quorum HSM — 대표적으로 Securosys Primus HSM입니다.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핵심은 Smart Key Attributes(SKA)입니다. US 특허까지 받은 기술로,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N-of-M 다자 승인을 하드웨어 내부에서 강제합니다.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HSM은 다자 승인을 소프트웨어에서 구현하지만, Securosys는 하드웨어 자체가 승인을 강제합니다.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소프트웨어를 아무리 우회해도, HSM이 필요한 승인을 받지 못하면 절대 서명하지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정책 파라미터로 Quorum(N-of-M), Timelock(서명 후 대기), Timeout(승인 유효 기간)을 설정합니다.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금액별 차등 승인이 필요하면, 금액 구간별로 서로 다른 키(다른 SKA 정책)를 배정하는 방식으로 구현합니다.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Authorization App으로 승인자가 모바일에서 생체인증으로 승인합니다.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오른쪽 비교 테이블을 보시면, 일반 HSM 대비 확실한 차별점이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특히 Post-Quantum Ready — 양자 컴퓨터 시대에도 대응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5개 레벨의 핵심 차이점 4가지를 비교합니다.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(상세 9항목 비교표는 핸드아웃으로 제공합니다)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포인트: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키 저장: Level 4부터 하드웨어로 전환됩니다. 소프트웨어 키 → 하드웨어 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다자 승인: Level 2는 온체인, Level 3은 오프체인, Level 5는 하드웨어 내장.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특히 Level 5의 SKA는 하드웨어 자체가 승인을 강제하므로 소프트웨어 우회가 불가능합니다.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키 교체·복구: Level 2(swapOwner, Guardian)와 Level 5(SKA 정책)만 완전 지원.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적합 대상: 개인 → 팀 → 기관 → 대형 거래소 → 금융기관으로 점점 올라갑니다.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여기서 중요한 관찰: Level 2의 온체인 통제와 Level 5의 하드웨어 보안을 결합하면 어떨까?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이것이 Level 6의 핵심 아이디어입니다. 잠시 후 다루겠습니다.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1을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25분 동안 Safe Multi-sig를 직접 배포하고, 키 교체를 체험합니다.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실습의 핵심 체감 포인트는 하나입니다: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"키가 곧 자산이 아니다" — swapOwner로 키를 완전히 교체해도 자산은 그대로 남아있습니다.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이것이 EOA와 Smart Account의 근본적 차이이며,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기관이 블록체인 위에서 자산을 안전하게 관리할 수 있는 기반입니다.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실습 준비물을 확인하겠습니다.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Chrome 브라우저, MetaMask(또는 OhMyWallet), ARC </a:t>
            </a:r>
            <a:r>
              <a:rPr lang="en-US"/>
              <a:t>테스트넷 USDC</a:t>
            </a:r>
            <a:r>
              <a:rPr lang="en-US"/>
              <a:t> 토큰이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4단계로 진행합니다: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1: 지갑 연결 — ARC </a:t>
            </a:r>
            <a:r>
              <a:rPr lang="en-US"/>
              <a:t>테스트넷</a:t>
            </a:r>
            <a:r>
              <a:rPr lang="en-US"/>
              <a:t> 선택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2: Safe 배포 — 2-of-3 Safe를 배포합니다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3: 키 교체 — swapOwner로 Owner를 새 주소로 교체합니다. 이것이 핵심 체감 포인트입니다.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4: </a:t>
            </a:r>
            <a:r>
              <a:rPr lang="en-US"/>
              <a:t>출금</a:t>
            </a:r>
            <a:r>
              <a:rPr lang="en-US"/>
              <a:t> — </a:t>
            </a:r>
            <a:r>
              <a:rPr lang="en-US"/>
              <a:t>교체한 키로 서명하여 출금합니다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자, 시작하겠습니다. 먼저 브라우저에서 실습 페이지를 열어주세요.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5분 휴식입니다.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지금까지 Level 1(EOA)부터 Level 5(Quorum HSM)까지 살펴보았고,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1에서 Level 2(Safe Multi-sig)를 직접 체험했습니다.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휴식 후에는 가장 중요한 Part 3 — Level 6 궁극의 기관 보안 모델을 다룹니다.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2의 온체인 통제와 Level 5의 하드웨어 보안을 어떻게 결합하는지 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3를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이제 가장 중요한 내용입니다.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2의 온체인 통제와 Level 5의 하드웨어 보안을 어떻게 결합하는가?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 열쇠가 Account Abstraction — Smart Account입니다.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Account Abstraction의 핵심 개념을 이해하고,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 위에 Level 6 아키텍처를 설계합니다.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ERC-4337과 EIP-7702 — 언제 무엇을 써야 할까요?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ERC-4337 (Smart Account):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새로운 계정을 만드는 방식입니다. UserOperation → Bundler → EntryPoint → Smart Account 흐름.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서명 방식을 완전히 자유롭게 선택할 수 있습니다. PassKey, HSM 서명, 어떤 것이든 가능.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Paymaster로 가스비 대납, 키 교체, 복구, 모듈 시스템 등 풀 기능을 제공합니다.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신규 서비스를 처음 구축하거나, 기관 자산관리 계정을 설계할 때 적합합니다.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EIP-7702 (EOA 업그레이드):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EOA에 코드를 위임하는 방식입니다. 기존 주소를 유지하면서 Smart Account 기능을 추가합니다.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배치 트랜잭션(여러 tx를 하나로), 스폰서드 트랜잭션이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사용자의 EOA를 업그레이드하거나, 점진적으로 도입할 때 적합합니다.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차이: ERC-4337은 '새로 설계', EIP-7702는 '기존 업그레이드'.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기관이 처음부터 자산관리 시스템을 구축한다면 ERC-4337,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고객의 EOA를 개선한다면 EIP-7702를 선택합니다.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둘을 결합할 수도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6의 핵심을 두 축으로 정리합니다: 키관리와 자산관리.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키관리 5가지: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키 생성: HSM 하드웨어 내부에서 생성, 절대 외부 추출 불가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인증: PassKey/FIDO2로 피싱 원천 차단, 생체인증 기반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다자 승인: Securosys SKA가 N-of-M 승인을 하드웨어 내부에서 강제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키 교체: Smart Account의 swapOwner로 키를 교체해도 자산은 그대로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키 복구: Guardian을 통한 소셜 리커버리, 온체인에서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자산관리 5가지: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정책 강제: 금액 제한, 화이트리스트, 시간 잠금 등 온체인에서 규칙 강제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가스 대납: Paymaster로 고객이 ETH 없이도 서비스 이용 가능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감사 추적: 모든 트랜잭션이 온체인에 기록, 규제 대응 완전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배치 처리: EIP-7702로 다중 트랜잭션을 하나로 묶어 원자적 실행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규제 인증: FIPS 140-2 Level 3 인증으로 금융 규제 요건 충족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두 축이 합쳐진 것이 Level 6입니다.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PassKey로 인증하고, Quorum HSM으로 서명하고, Smart Account로 정책을 강제합니다.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구체적인 기관 시나리오를 보겠습니다. 1000만 달러 USDC 이체.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1: 트레이더가 YubiKey를 터치합니다. FIDO2 프로토콜로 본인 확인.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2: 이체 요청이 Securosys Primus HSM으로 전송됩니다.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3: 대액 이체용 키에는 3-of-5 SKA 정책이 적용되어 있어, 5명 중 3명에게 모바일 푸시 알림을 보냅니다.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승인자들이 Authorization App에서 PassKey 생체인증으로 승인합니다.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4: Quorum이 충족되면, HSM이 하드웨어 내부에서 서명을 수행합니다.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5: 서명된 트랜잭션이 Smart Account(Safe)로 전송되어 온체인에서 정책을 검증합니다.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6: 모든 검증을 통과하면 USDC가 이체되고, 전체 과정이 온체인에 기록됩니다.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핵심: 이 전체 과정에서 개인키가 어디에서도 평문으로 존재하지 않습니다.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5명 중 3명이 승인해야 서명이 수행되고, 모든 단계가 기록됩니다.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2를 시작하겠습니다.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 </a:t>
            </a:r>
            <a:r>
              <a:rPr lang="en-US"/>
              <a:t>테스트넷에서</a:t>
            </a:r>
            <a:r>
              <a:rPr lang="en-US"/>
              <a:t> 진행합니다.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20분 동안 두 가지 실습을 합니다: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Lab 2-A: ERC-4337 Smart Account — PassKey로 서명, </a:t>
            </a:r>
            <a:r>
              <a:rPr lang="en-US"/>
              <a:t>릴레이어로</a:t>
            </a:r>
            <a:r>
              <a:rPr lang="en-US"/>
              <a:t> 가스비 대납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Lab 2-B: EIP-7702 EOA 업그레이드 — 기존 EOA에 코드 위임, </a:t>
            </a:r>
            <a:r>
              <a:rPr lang="en-US"/>
              <a:t>메타 트랜잭션을 활용한 가스비 대납, </a:t>
            </a:r>
            <a:r>
              <a:rPr lang="en-US"/>
              <a:t>배치 트랜잭션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각각 언제 쓰는 게 좋은지 직접 체험하면서 비교합니다.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2-A: ERC-4337 Smart Account 실습입니다.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1: Smart Account 배포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PassKey를 Owner로 설정한 ERC-4337 계정을 생성합니다.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EOA와 다른 새 주소가 할당됩니다.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2: PassKey 서명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생체인증 한 번으로 UserOperation을 서명합니다.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개인키를 직접 관리할 필요가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Bundler가 트랜잭션을 번들링해서 온체인에 제출합니다.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3: </a:t>
            </a:r>
            <a:r>
              <a:rPr lang="en-US"/>
              <a:t>릴레이어</a:t>
            </a:r>
            <a:r>
              <a:rPr lang="en-US"/>
              <a:t> 가스 대납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가스비</a:t>
            </a:r>
            <a:r>
              <a:rPr lang="en-US"/>
              <a:t> 없이 트랜잭션을 전송합니다.</a:t>
            </a:r>
            <a:br>
              <a:rPr lang="en-US"/>
            </a:br>
            <a:r>
              <a:rPr lang="en-US"/>
              <a:t>본 실습에서는 릴레이어를 사용하지만 페이마스터를 사용하면 ERC20로 수수료를 대신 지불하도록 하거나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+알파의 수수료를 정산하도록하는 등의 기능을 활용할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체감: PassKey + Paymaster = Web2 수준의 사용자 경험.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기관이 고객에게 제공할 서비스의 형태입니다.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ERC-4337은 새 계정을 처음부터 설계할 때 적합합니다.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커스텀 서명, 키 교체, 복구, Paymaster 등 풀 기능이 필요할 때 선택하세요.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8" name="Google Shape;70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 2-B: EIP-7702 EOA 업그레이드 실습입니다.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1: EOA에 코드 위임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EOA 주소를 그대로 유지하면서, CA </a:t>
            </a:r>
            <a:r>
              <a:rPr lang="en-US"/>
              <a:t>코드를 위임합니다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주소가 변하지 않으므로 기존 자산을 이전할 필요가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2: 배치 트랜잭션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여러 호출을 하나의 트랜잭션으로 묶습니다.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예를 들어 approve와 swap을 한 번에 실행합니다.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가스비도 절약되고, 실패 시 전체가 롤백됩니다.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3: 스폰서드 트랜잭션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다른 계정이 가스비를 대납합니다.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EOA 사용자도 가스비 무료 체험을 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체감: 기존 EOA를 버리지 않고 Smart Account로 업그레이드.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기존 사용자의 점진적 전환에 적합합니다.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EIP-7702는 기존 주소를 유지해야 하거나, 점진적으로 도입할 때 선택하세요.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마지막 정리입니다.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Level 1부터 6까지 전체 보안 레벨을 살펴보았습니다.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레벨은 이전 레벨의 한계를 극복하기 위해 등장했고,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실제 해킹 사례가 그 한계를 증명했습니다.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기관급 지갑 관리 방안 추천</a:t>
            </a:r>
            <a:r>
              <a:rPr lang="en-US"/>
              <a:t> 로드맵을 제안드립니다: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1 (3~6개월): Safe Multi-sig 도입.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내부 자산관리에 다자 승인 체계를 구축합니다.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Lab 1에서 체험한 것처럼, 키 교체와 Guardian 복구가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인력 2~3명이면 충분하고, 인프라 비용은 가스비 수준으로 최소입니다.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2 (6~12개월): HSM 또는 Quorum HSM을 연동합니다.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3개월간 Securosys Primus HSM PoC(개념증명)를 진행하고,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성공 시 SKA의 N-of-M 하드웨어 다자 승인을 본격 적용합니다.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HSM 인프라 도입 예산이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Phase 3 (12~24개월): Level 6 완전 구현.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PassKey + Quorum HSM + Smart Account로 궁극의 보안 모델을 구축합니다.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Lab 2에서 체험한 ERC-4337과 EIP-7702를 고객 대면 서비스에 적용합니다.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Phase는 이전 Phase의 성과를 기반으로 하므로, 순차적 진행을 권장합니다.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2" name="Google Shape;802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마지막 슬라이드입니다. 핵심 메시지 세 가지로 정리합니다.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첫째, 블록체인 보안은 '키 관리'가 아니라 '키 아키텍처'입니다.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키를 어디에 보관하느냐가 아니라, 서명·승인·복구·감사의 전체 체계를 어떻게 설계하느냐가 핵심입니다.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둘째, 보안 레벨은 단계적으로 상승시킬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Level 1에서 바로 Level 6으로 갈 필요 없습니다.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현재 위치에서 다음 레벨로 한 단계씩 올라갈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셋째, 궁극의 모델은 이미 실현 가능합니다.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PassKey, Quorum HSM, Smart Account — 각 기술은 이미 SIX, OSL 등에서 검증되었습니다.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이를 결합하면 기관 수준의 궁극의 보안 모델을 구축할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강의를 통해 블록체인 키 관리의 전체 그림을 보셨기를 바랍니다.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질문 있으시면 편하게 해주세요. 감사합니다.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bd777d224c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3" name="Google Shape;823;g3bd777d224c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bd777d224c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731520" y="1828800"/>
            <a:ext cx="22860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기관용 블록체인 키 관리: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레벨의 진화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Single Key → Multi-sig → MPC → HSM → Quorum HSM → Smart Account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4937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블록체인 교육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5303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 / 29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Agenda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103120" y="6583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1 → 6  단계적 상승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31520" y="1371600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05840" y="1463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1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560320" y="14630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인식 — Level 1: 단일 키의 세계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5440" y="14630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15분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31520" y="2029967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05840" y="21214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560320" y="212140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상승 — Level 2~5: 키 보호 기술의 진화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35440" y="212140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30분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31520" y="2688336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005840" y="277977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560320" y="2779776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 체험: Safe Multi-sig 실습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235440" y="277977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25분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731520" y="3346704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005840" y="343814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Break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2560320" y="3438144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휴식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235440" y="3438144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5분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31520" y="4005072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005840" y="4096511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3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2560320" y="4096511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6: ERC-4337/EIP-7702 비교 + 기관급 키관리·자산관리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235440" y="4096511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15분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731520" y="4663440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005840" y="4754879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2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2560320" y="4754879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 Smart Account 실습 + EIP-7702 실습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235440" y="4754879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20분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731520" y="5321808"/>
            <a:ext cx="10058400" cy="530352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005840" y="54132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Closing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560320" y="5413248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종합 &amp; Q/A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35440" y="541324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10분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 / 29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1: 문제 인식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키의 세계는 얼마나 위험한가?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  ·  Single Key EOA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3 / 29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1: EOA — 하나의 키가 모든 것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731520" y="1371600"/>
            <a:ext cx="4572000" cy="411480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005840" y="1463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EOA 구조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05840" y="201168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개인키 (Private Key)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= 계정 (Account)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= 자산 접근 권한 (Asset Access)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= 서명 권한 (Signing Authority)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= 복구 수단 (Recovery)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Single Point of Failure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하나를 잃으면 = 모든 것을 잃음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하나를 빼앗기면 = 모든 것을 빼앗김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52160" y="1371600"/>
            <a:ext cx="5212080" cy="41148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6126480" y="1463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관점의 구조적 한계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126480" y="2011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키 교체 불가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92240" y="226771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개인키가 곧 주소 → 키 유출 시 주소 폐기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126480" y="2651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권한 분리 불가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492240" y="290779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CEO든 인턴이든 같은 키로 서명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126480" y="3291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다자 승인 불가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92240" y="3547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1인이 수십억 이체 가능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126480" y="3931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복구 불가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92240" y="4187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분실 = 영구 자산 손실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126480" y="4572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✕ 감사 추적 불가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492240" y="48280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누가 서명했는지 온체인 기록 없음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4 / 29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 해킹 사례: 키 하나를 뚫으면 끝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731520" y="1371600"/>
            <a:ext cx="3383280" cy="384048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914400" y="1463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Atomic Wallet (2023)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$100M+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2331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공격: 서버 측 키 유출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274320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서버에 저장된 암호화 키가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유출되어 개인키 복호화됨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5,500+ 지갑 탈취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(출처: Elliptic)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4343400" y="1371600"/>
            <a:ext cx="3383280" cy="384048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4526280" y="1463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Wintermute (2022)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4526280" y="1828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$162M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4526280" y="2331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공격: 취약 주소 (Vanity Address)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4526280" y="274320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Profanity 툴로 생성한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vanity address의 개인키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브루트포스로 복원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(출처: Etherscan 온체인)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955280" y="1371600"/>
            <a:ext cx="3383280" cy="384048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8138160" y="146304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DMM Bitcoin (2024)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138160" y="18288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$308M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138160" y="2331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공격: 서버 해킹 → 키 탈취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138160" y="2743200"/>
            <a:ext cx="3017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일본 거래소 서버 침투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핫월렛 개인키 직접 탈취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4,502.9 BTC 유출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(출처: 일본 금융청)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731520" y="5394960"/>
            <a:ext cx="10728655" cy="54864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1005840" y="5458968"/>
            <a:ext cx="10180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교훈: "단일 키 = 단일 공격 지점"  →  키를 분산해야 합니다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5 / 29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패러다임 전환: 키 관리 → 키 아키텍처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731520" y="1463040"/>
            <a:ext cx="4572000" cy="292608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005840" y="15544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Before: 키 관리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005840" y="201168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"키를 어디에 보관할까?"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금고? USB? 서버? 종이?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하드웨어 월렛? 클라우드?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보관 장소만 바꿀 뿐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구조적 문제는 그대로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120640" y="2560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6217920" y="1463040"/>
            <a:ext cx="4846320" cy="292608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492240" y="15544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After: 키 아키텍처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492240" y="2011680"/>
            <a:ext cx="42976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"키를 어떻게 설계할까?"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서명 권한은 어떻게 분리할까?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키 교체는 가능한가?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다자 승인은 어떻게 구현할까?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복구 메커니즘은?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감사 추적은?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731520" y="4754880"/>
            <a:ext cx="10728655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005840" y="48006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프로그레션 (비용·복잡도 상승 순)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1005840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097280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Lv.1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1097280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Single Key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2743200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2834640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Lv.2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2834640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Multi-sig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4480560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4572000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Lv.3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4572000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MPC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217919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6309359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Lv.4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309359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</a:t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7955279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046719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Lv.5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046719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Quorum HSM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9692640" y="521208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9784080" y="5230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Lv.6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784080" y="54589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Ultimate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6 / 29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2: 보안 레벨 상승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보호 기술은 어떻게 진화해왔는가?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 → LEVEL 5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7 / 29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2: Multi-sig — 온체인 권한 분산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</a:t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731520" y="1371600"/>
            <a:ext cx="4754880" cy="43891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1005840" y="1463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 (Gnosis Safe) 구조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005840" y="19202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M-of-N 온체인 승인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3명 중 2명이 서명해야 실행 (예: 2/3)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swapOwner: 키 교체 가능 (키≠자산)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addOwner / removeOwner: 서명자 추가/제거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changeThreshold: 승인 기준 변경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Guardian: 사회적 복구 메커니즘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온체인 투명성 (모든 승인 기록 남음)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비용 낮음 (가스비만)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컨트랙트 감사 가능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6035040" y="1371600"/>
            <a:ext cx="5029200" cy="228600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30936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 대비 개선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309360" y="19202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키 교체 가능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046720" y="19202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swapOwner로 키 완전 교체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309360" y="23317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다자 승인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046720" y="2331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M-of-N 서명 필수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309360" y="2743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권한 분리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8046720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Owner별 역할 부여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309360" y="31546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복구 가능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46720" y="31546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Guardian 복구 메커니즘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6035040" y="3931920"/>
            <a:ext cx="5029200" cy="182880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6309360" y="4023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남은 한계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309360" y="448056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각 서명자의 키는 여전히 소프트웨어에 존재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서명자 PC가 감염되면 키 탈취 가능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키가 한 조직에 집중되면 무의미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키 자체를 보호하는 기술이 필요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8 / 29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 해킹: Multi-sig도 뚫린다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731520" y="1371600"/>
            <a:ext cx="3291840" cy="347472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914400" y="14630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Ronin Bridge (2022)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14400" y="17830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$625M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14400" y="228600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5/9 Multi-sig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5개 키가 한 조직(Sky Mavis)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+ 1개 키를 Axie DAO에서 위임받음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실질적으로 1개 조직이 과반 통제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교훈: 키 분산 ≠ 조직 분산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4389120" y="1371600"/>
            <a:ext cx="3474720" cy="347472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572000" y="14630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Bybit (2025)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$1.5B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4572000" y="2286000"/>
            <a:ext cx="3108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 Multi-sig 사용 중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공격: Safe{Wallet} 프론트엔드 변조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(개발자 PC 침투 → UI 코드 공급망 공격)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서명자가 정상 tx로 착각하고 서명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교훈: 서명 환경(UI 인프라) 감염 시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Multi-sig 프로토콜 자체와 무관하게 무력화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8183879" y="1371600"/>
            <a:ext cx="2926080" cy="347472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8366760" y="1463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Parity (2017)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8366760" y="17830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$150M 동결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366760" y="2286000"/>
            <a:ext cx="2560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Multi-sig 라이브러리 파괴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실수로 라이브러리 컨트랙트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selfdestruct 호출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모든 Parity 월렛 영구 동결</a:t>
            </a:r>
            <a:endParaRPr/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29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교훈: 컨트랙트 의존성 위험</a:t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731520" y="5120640"/>
            <a:ext cx="10728655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005840" y="5166360"/>
            <a:ext cx="101800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종합: Multi-sig 프로토콜 자체는 안전하나, 서명 환경(UI·키 보관)이 감염되면 무력화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서명 키 자체를 분산 보호해야 한다 (Level 3)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9 / 29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3: MPC — 오프체인 키 분산 보호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3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731520" y="1371600"/>
            <a:ext cx="4754880" cy="4389120"/>
          </a:xfrm>
          <a:prstGeom prst="roundRect">
            <a:avLst>
              <a:gd fmla="val 4000" name="adj"/>
            </a:avLst>
          </a:prstGeom>
          <a:solidFill>
            <a:srgbClr val="0D14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1005840" y="1463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TSS (Threshold Signature Scheme)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1005840" y="19202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키를 여러 조각(share)으로 분산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어떤 노드도 완전한 키를 보유하지 않음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T-of-N 노드가 협력해야 서명 생성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키가 단일 지점에서 복원되지 않음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장점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키 단일 복원 없이 서명 가능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프라이버시 (외부에서 일반 tx로 보임)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가스비 = EOA 수준 (저렴)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서비스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Fireblocks, Coinbase WaaS, Fordefi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6035040" y="1371600"/>
            <a:ext cx="5029200" cy="164592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630936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 대비 개선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309360" y="192024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개인키가 단일 지점에 존재하지 않음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서명자 PC가 감염돼도 키 조각 1개만 노출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키 share 교체(refresh) 가능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6035040" y="3291840"/>
            <a:ext cx="5029200" cy="246888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6309360" y="33832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남은 한계 (Critical)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309360" y="384048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온체인에는 일반 EOA tx로 제출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온체인 감사/통제/복구 불가능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키 share가 소프트웨어 메모리에 존재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서버/클라우드 침투 시 share 탈취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내부자가 다수 share를 통제하면 무력화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하드웨어 수준의 키 보호 필요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/ 29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3 해킹: MPC/오프체인 통제의 한계</a:t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3</a:t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731520" y="1371600"/>
            <a:ext cx="5029200" cy="411480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FTX (2022) — $8B+ 고객 자금 전용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1005840" y="192024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내부 MPC/키 관리 시스템 사용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키 조각을 내부 임원들이 관리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CEO(SBF)가 키 조각 다수 통제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고객 자금을 Alameda Research로 전용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온체인 감사 메커니즘 부재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이사회/외부 감시자의 키 통제 없음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교훈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내부자가 키를 다수 통제하면 MPC도 무력화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오프체인 통제는 내부자 우회 가능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6217920" y="1371600"/>
            <a:ext cx="4846320" cy="20116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6492240" y="14630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MPC 한계 요약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6326815" y="1793903"/>
            <a:ext cx="4297800" cy="1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⚠️ 소프트웨어 복잡성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   • 파티별 n 라운드 연산 필요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⚠️ Share 노출 시 영구적 위험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   • Share 하나라도 유출되면 보안 약화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   • Resharing 해도 기존 share deprecated 불가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⚠️ 온체인 감사 부재 (FTX 사례)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   • 오프체인 키 관리 = 외부 감시 어려움</a:t>
            </a:r>
            <a:endParaRPr sz="1100">
              <a:solidFill>
                <a:schemeClr val="lt1"/>
              </a:solidFill>
              <a:highlight>
                <a:srgbClr val="1A1A1A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chemeClr val="lt1"/>
                </a:solidFill>
                <a:highlight>
                  <a:srgbClr val="1A1A1A"/>
                </a:highlight>
              </a:rPr>
              <a:t>   • 내부자 통제 위험</a:t>
            </a:r>
            <a:endParaRPr>
              <a:solidFill>
                <a:schemeClr val="lt1"/>
              </a:solidFill>
              <a:highlight>
                <a:srgbClr val="1A1A1A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6217920" y="3657600"/>
            <a:ext cx="4846320" cy="1828800"/>
          </a:xfrm>
          <a:prstGeom prst="roundRect">
            <a:avLst>
              <a:gd fmla="val 4000" name="adj"/>
            </a:avLst>
          </a:prstGeom>
          <a:solidFill>
            <a:srgbClr val="1F17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6492240" y="3749039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레벨이 필요한 이유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6492240" y="420624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소프트웨어에서 키를 보호하는 것은 한계가 있다</a:t>
            </a:r>
            <a:endParaRPr/>
          </a:p>
          <a:p>
            <a:pPr indent="0" lvl="0" marL="0" marR="0" rtl="0" algn="l">
              <a:spcBef>
                <a:spcPts val="389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키를 하드웨어 안에 가두어야 한다</a:t>
            </a:r>
            <a:endParaRPr/>
          </a:p>
          <a:p>
            <a:pPr indent="0" lvl="0" marL="0" marR="0" rtl="0" algn="l">
              <a:spcBef>
                <a:spcPts val="419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그것이 HSM (Hardware Security Module)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 / 29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4: HSM — 하드웨어 키 보호</a:t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4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731520" y="1371600"/>
            <a:ext cx="4754880" cy="4389120"/>
          </a:xfrm>
          <a:prstGeom prst="roundRect">
            <a:avLst>
              <a:gd fmla="val 4000" name="adj"/>
            </a:avLst>
          </a:prstGeom>
          <a:solidFill>
            <a:srgbClr val="0D1A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1005840" y="14630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 (Hardware Security Module)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1005840" y="1920240"/>
            <a:ext cx="4206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FIPS 140-2 Level 3 인증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키가 하드웨어 내부에서 생성/저장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키는 절대 하드웨어 외부로 추출 불가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탬퍼 감지 (물리적 침투 시 키 파괴)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서명은 HSM 내부에서만 수행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제품/서비스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AWS CloudHSM, Azure Dedicated HSM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Thales Luna, Utimaco, nCipher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기관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Coinbase, Kraken, 대형 은행 등</a:t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6035040" y="1371600"/>
            <a:ext cx="5029200" cy="182880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630936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3 대비 개선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6309360" y="192024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키가 하드웨어 내부에만 존재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서버 침투해도 키 추출 불가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물리적 탬퍼 감지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FIPS 140-2 Level 3 인증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6035040" y="3474720"/>
            <a:ext cx="5029200" cy="2286000"/>
          </a:xfrm>
          <a:prstGeom prst="roundRect">
            <a:avLst>
              <a:gd fmla="val 4000" name="adj"/>
            </a:avLst>
          </a:prstGeom>
          <a:solidFill>
            <a:srgbClr val="1F0D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6309360" y="3566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남은 한계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6309360" y="402336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단일 HSM = 단일 키 = 단일 서명자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HSM에 접근 권한이 있으면 단독 서명 가능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다자 승인은 소프트웨어 레이어에서 구현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소프트웨어 우회 시 다자 승인 무력화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 내부자가 HSM 접근 권한을 가지면 위험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5C54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하드웨어 내부에서 다자 승인 필요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12 / 29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5: Quorum HSM — 하드웨어 내장 다자 승인</a:t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5</a:t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731520" y="1280160"/>
            <a:ext cx="5029200" cy="4572000"/>
          </a:xfrm>
          <a:prstGeom prst="roundRect">
            <a:avLst>
              <a:gd fmla="val 4000" name="adj"/>
            </a:avLst>
          </a:prstGeom>
          <a:solidFill>
            <a:srgbClr val="170D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 txBox="1"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Securosys Primus HSM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1005840" y="182880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Key Attributes (SKA)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US Patent 11,095,458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77777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핵심: N-of-M 승인을 HSM 하드웨어 내부에서 강제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소프트웨어 레벨에서 우회 불가능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SKA 정책 파라미터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Quorum: N-of-M 승인자 요구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Timelock: 서명 후 대기 시간 강제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Timeout: 승인 유효 기간 제한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Authorization App (iOS/Android)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승인자가 모바일에서 생체인증으로 승인</a:t>
            </a:r>
            <a:endParaRPr/>
          </a:p>
          <a:p>
            <a:pPr indent="0" lvl="0" marL="0" marR="0" rtl="0" algn="l">
              <a:spcBef>
                <a:spcPts val="247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PassKey/FIDO2 기반 인증 지원</a:t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6217920" y="1280160"/>
            <a:ext cx="4846320" cy="45720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 txBox="1"/>
          <p:nvPr/>
        </p:nvSpPr>
        <p:spPr>
          <a:xfrm>
            <a:off x="6492240" y="1371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Securosys vs 일반 HSM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649224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8046720" y="18288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Securosys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9601200" y="18288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Thales/AWS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6400800" y="2194560"/>
            <a:ext cx="4572000" cy="41148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649224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 Quorum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804672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SKA 내장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960120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소프트웨어 필요</a:t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>
            <a:off x="6400800" y="2651760"/>
            <a:ext cx="4572000" cy="4114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6492240" y="27249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Authorization App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8046720" y="27249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iOS/Android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9601200" y="27249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없음</a:t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6400800" y="3108960"/>
            <a:ext cx="4572000" cy="41148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6492240" y="31821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블록체인 네이티브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8046720" y="31821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ETH/BTC/ADA 등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9601200" y="31821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범용 (커스텀 필요)</a:t>
            </a:r>
            <a:endParaRPr/>
          </a:p>
        </p:txBody>
      </p:sp>
      <p:sp>
        <p:nvSpPr>
          <p:cNvPr id="382" name="Google Shape;382;p25"/>
          <p:cNvSpPr/>
          <p:nvPr/>
        </p:nvSpPr>
        <p:spPr>
          <a:xfrm>
            <a:off x="6400800" y="3566160"/>
            <a:ext cx="4572000" cy="4114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6492240" y="36393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Post-Quantum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8046720" y="36393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ML-KEM, ML-DSA</a:t>
            </a:r>
            <a:endParaRPr/>
          </a:p>
        </p:txBody>
      </p:sp>
      <p:sp>
        <p:nvSpPr>
          <p:cNvPr id="385" name="Google Shape;385;p25"/>
          <p:cNvSpPr txBox="1"/>
          <p:nvPr/>
        </p:nvSpPr>
        <p:spPr>
          <a:xfrm>
            <a:off x="9601200" y="36393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제한적</a:t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6400800" y="4023360"/>
            <a:ext cx="4572000" cy="41148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6492240" y="4096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Timelock/Timeout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8046720" y="4096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하드웨어 강제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9601200" y="4096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소프트웨어 의존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 / 29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비교: Level 1 → 5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5760720" y="65836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비교표는 핸드아웃 참조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731520" y="1371600"/>
            <a:ext cx="164592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822960" y="14173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</a:t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2468880" y="137160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256032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Lv.1 EOA</a:t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4114800" y="1371600"/>
            <a:ext cx="173736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4206240" y="1417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Lv.2 Multi-sig</a:t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>
            <a:off x="5943600" y="137160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603504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Lv.3 MPC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7589520" y="1371600"/>
            <a:ext cx="155448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7680960" y="1417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Lv.4 HSM</a:t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9235440" y="1371600"/>
            <a:ext cx="1737360" cy="502920"/>
          </a:xfrm>
          <a:prstGeom prst="roundRect">
            <a:avLst>
              <a:gd fmla="val 4000" name="adj"/>
            </a:avLst>
          </a:prstGeom>
          <a:solidFill>
            <a:srgbClr val="1F1F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 txBox="1"/>
          <p:nvPr/>
        </p:nvSpPr>
        <p:spPr>
          <a:xfrm>
            <a:off x="9326880" y="1417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Lv.5 Quorum</a:t>
            </a: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731520" y="2011680"/>
            <a:ext cx="164592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822960" y="22402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저장 · 보호</a:t>
            </a:r>
            <a:endParaRPr/>
          </a:p>
        </p:txBody>
      </p:sp>
      <p:sp>
        <p:nvSpPr>
          <p:cNvPr id="414" name="Google Shape;414;p26"/>
          <p:cNvSpPr/>
          <p:nvPr/>
        </p:nvSpPr>
        <p:spPr>
          <a:xfrm>
            <a:off x="2468880" y="201168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2514600" y="214884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</a:t>
            </a:r>
            <a:endParaRPr/>
          </a:p>
        </p:txBody>
      </p:sp>
      <p:sp>
        <p:nvSpPr>
          <p:cNvPr id="416" name="Google Shape;416;p26"/>
          <p:cNvSpPr/>
          <p:nvPr/>
        </p:nvSpPr>
        <p:spPr>
          <a:xfrm>
            <a:off x="4114800" y="201168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 txBox="1"/>
          <p:nvPr/>
        </p:nvSpPr>
        <p:spPr>
          <a:xfrm>
            <a:off x="4160520" y="214884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</a:t>
            </a:r>
            <a:endParaRPr/>
          </a:p>
        </p:txBody>
      </p:sp>
      <p:sp>
        <p:nvSpPr>
          <p:cNvPr id="418" name="Google Shape;418;p26"/>
          <p:cNvSpPr/>
          <p:nvPr/>
        </p:nvSpPr>
        <p:spPr>
          <a:xfrm>
            <a:off x="5943600" y="201168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 txBox="1"/>
          <p:nvPr/>
        </p:nvSpPr>
        <p:spPr>
          <a:xfrm>
            <a:off x="5989320" y="214884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 (소프트)</a:t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7589520" y="201168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7635240" y="214884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</a:t>
            </a:r>
            <a:endParaRPr/>
          </a:p>
        </p:txBody>
      </p:sp>
      <p:sp>
        <p:nvSpPr>
          <p:cNvPr id="422" name="Google Shape;422;p26"/>
          <p:cNvSpPr/>
          <p:nvPr/>
        </p:nvSpPr>
        <p:spPr>
          <a:xfrm>
            <a:off x="9235440" y="201168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 txBox="1"/>
          <p:nvPr/>
        </p:nvSpPr>
        <p:spPr>
          <a:xfrm>
            <a:off x="9281160" y="214884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</a:t>
            </a:r>
            <a:endParaRPr/>
          </a:p>
        </p:txBody>
      </p:sp>
      <p:sp>
        <p:nvSpPr>
          <p:cNvPr id="424" name="Google Shape;424;p26"/>
          <p:cNvSpPr/>
          <p:nvPr/>
        </p:nvSpPr>
        <p:spPr>
          <a:xfrm>
            <a:off x="731520" y="2971800"/>
            <a:ext cx="164592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 txBox="1"/>
          <p:nvPr/>
        </p:nvSpPr>
        <p:spPr>
          <a:xfrm>
            <a:off x="822960" y="32004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다자 승인</a:t>
            </a:r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2468880" y="297180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 txBox="1"/>
          <p:nvPr/>
        </p:nvSpPr>
        <p:spPr>
          <a:xfrm>
            <a:off x="2514600" y="310896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불가</a:t>
            </a:r>
            <a:endParaRPr/>
          </a:p>
        </p:txBody>
      </p:sp>
      <p:sp>
        <p:nvSpPr>
          <p:cNvPr id="428" name="Google Shape;428;p26"/>
          <p:cNvSpPr/>
          <p:nvPr/>
        </p:nvSpPr>
        <p:spPr>
          <a:xfrm>
            <a:off x="4114800" y="297180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 txBox="1"/>
          <p:nvPr/>
        </p:nvSpPr>
        <p:spPr>
          <a:xfrm>
            <a:off x="4160520" y="310896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온체인 M-of-N</a:t>
            </a:r>
            <a:endParaRPr/>
          </a:p>
        </p:txBody>
      </p:sp>
      <p:sp>
        <p:nvSpPr>
          <p:cNvPr id="430" name="Google Shape;430;p26"/>
          <p:cNvSpPr/>
          <p:nvPr/>
        </p:nvSpPr>
        <p:spPr>
          <a:xfrm>
            <a:off x="5943600" y="297180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 txBox="1"/>
          <p:nvPr/>
        </p:nvSpPr>
        <p:spPr>
          <a:xfrm>
            <a:off x="5989320" y="310896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오프체인 TSS</a:t>
            </a:r>
            <a:endParaRPr/>
          </a:p>
        </p:txBody>
      </p:sp>
      <p:sp>
        <p:nvSpPr>
          <p:cNvPr id="432" name="Google Shape;432;p26"/>
          <p:cNvSpPr/>
          <p:nvPr/>
        </p:nvSpPr>
        <p:spPr>
          <a:xfrm>
            <a:off x="7589520" y="297180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 txBox="1"/>
          <p:nvPr/>
        </p:nvSpPr>
        <p:spPr>
          <a:xfrm>
            <a:off x="7635240" y="310896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SW 의존</a:t>
            </a:r>
            <a:endParaRPr/>
          </a:p>
        </p:txBody>
      </p:sp>
      <p:sp>
        <p:nvSpPr>
          <p:cNvPr id="434" name="Google Shape;434;p26"/>
          <p:cNvSpPr/>
          <p:nvPr/>
        </p:nvSpPr>
        <p:spPr>
          <a:xfrm>
            <a:off x="9235440" y="297180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 txBox="1"/>
          <p:nvPr/>
        </p:nvSpPr>
        <p:spPr>
          <a:xfrm>
            <a:off x="9281160" y="310896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HW 내장 SKA</a:t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731520" y="3931920"/>
            <a:ext cx="164592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 txBox="1"/>
          <p:nvPr/>
        </p:nvSpPr>
        <p:spPr>
          <a:xfrm>
            <a:off x="822960" y="4160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교체 · 복구</a:t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2468880" y="393192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6"/>
          <p:cNvSpPr txBox="1"/>
          <p:nvPr/>
        </p:nvSpPr>
        <p:spPr>
          <a:xfrm>
            <a:off x="2514600" y="406908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불가</a:t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4114800" y="393192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4160520" y="406908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swapOwner</a:t>
            </a:r>
            <a:b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Guardian 복구</a:t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5943600" y="393192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 txBox="1"/>
          <p:nvPr/>
        </p:nvSpPr>
        <p:spPr>
          <a:xfrm>
            <a:off x="5989320" y="406908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 share 교체</a:t>
            </a:r>
            <a:b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복구 불가</a:t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7589520" y="393192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 txBox="1"/>
          <p:nvPr/>
        </p:nvSpPr>
        <p:spPr>
          <a:xfrm>
            <a:off x="7635240" y="406908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 HSM 재설정</a:t>
            </a:r>
            <a:b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복구 불가</a:t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9235440" y="393192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 txBox="1"/>
          <p:nvPr/>
        </p:nvSpPr>
        <p:spPr>
          <a:xfrm>
            <a:off x="9281160" y="406908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SKA 정책</a:t>
            </a:r>
            <a:b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정책 기반 복구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731520" y="4892040"/>
            <a:ext cx="164592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822960" y="51206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적합 대상</a:t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2468880" y="489204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 txBox="1"/>
          <p:nvPr/>
        </p:nvSpPr>
        <p:spPr>
          <a:xfrm>
            <a:off x="2514600" y="502920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</a:t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4114800" y="489204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4160520" y="502920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/ DAO</a:t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5943600" y="489204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5989320" y="502920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/ 거래소</a:t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7589520" y="4892040"/>
            <a:ext cx="155448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 txBox="1"/>
          <p:nvPr/>
        </p:nvSpPr>
        <p:spPr>
          <a:xfrm>
            <a:off x="7635240" y="5029200"/>
            <a:ext cx="14630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대형 거래소</a:t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9235440" y="4892040"/>
            <a:ext cx="1737360" cy="822960"/>
          </a:xfrm>
          <a:prstGeom prst="roundRect">
            <a:avLst>
              <a:gd fmla="val 4000" name="adj"/>
            </a:avLst>
          </a:prstGeom>
          <a:solidFill>
            <a:srgbClr val="1414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9281160" y="5029200"/>
            <a:ext cx="164591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금융기관</a:t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731520" y="5943600"/>
            <a:ext cx="10728655" cy="5029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관찰: Level 2의 온체인 통제 + Level 5의 하드웨어 보안 = Level 6의 아이디어</a:t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463" name="Google Shape;463;p2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15 / 29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1: Safe Multi-sig 체험</a:t>
            </a:r>
            <a:endParaRPr/>
          </a:p>
        </p:txBody>
      </p:sp>
      <p:sp>
        <p:nvSpPr>
          <p:cNvPr id="471" name="Google Shape;471;p27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2를 직접 손으로 경험하기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2  ·  25분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체감: "키 ≠ 자산" — 키를 완전히 교체해도 자산은 그대로</a:t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475" name="Google Shape;475;p2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17 / 29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8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1: 실습 준비 &amp; 흐름</a:t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731520" y="1371600"/>
            <a:ext cx="3657600" cy="22860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/>
          <p:nvPr/>
        </p:nvSpPr>
        <p:spPr>
          <a:xfrm>
            <a:off x="1005840" y="1463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준비물</a:t>
            </a:r>
            <a:endParaRPr/>
          </a:p>
        </p:txBody>
      </p:sp>
      <p:sp>
        <p:nvSpPr>
          <p:cNvPr id="485" name="Google Shape;485;p28"/>
          <p:cNvSpPr txBox="1"/>
          <p:nvPr/>
        </p:nvSpPr>
        <p:spPr>
          <a:xfrm>
            <a:off x="1005840" y="1920240"/>
            <a:ext cx="31089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Chrome 브라우저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MetaMask 확장 프로그램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(또는 OhMyWallet)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2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 테스트넷</a:t>
            </a: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USDC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</a:t>
            </a:r>
            <a:r>
              <a:rPr lang="en-US" sz="1200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faucet 사이트 이용</a:t>
            </a:r>
            <a:r>
              <a:rPr b="0" i="0" lang="en-US" sz="12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4754875" y="1371600"/>
            <a:ext cx="6309300" cy="38361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5029200" y="1463040"/>
            <a:ext cx="576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</a:t>
            </a:r>
            <a:r>
              <a:rPr b="1" lang="en-US" sz="1500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b="1" i="0" lang="en-US" sz="15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Steps</a:t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4937760" y="2011680"/>
            <a:ext cx="731520" cy="64008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4983480" y="21488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5852160" y="2057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지갑 연결</a:t>
            </a:r>
            <a:endParaRPr/>
          </a:p>
        </p:txBody>
      </p:sp>
      <p:sp>
        <p:nvSpPr>
          <p:cNvPr id="491" name="Google Shape;491;p28"/>
          <p:cNvSpPr txBox="1"/>
          <p:nvPr/>
        </p:nvSpPr>
        <p:spPr>
          <a:xfrm>
            <a:off x="5852160" y="233172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MetaMask / OhMyWallet 연결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테스트넷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선택</a:t>
            </a: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4937760" y="2788920"/>
            <a:ext cx="731520" cy="64008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4983480" y="29260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/>
          </a:p>
        </p:txBody>
      </p:sp>
      <p:sp>
        <p:nvSpPr>
          <p:cNvPr id="494" name="Google Shape;494;p28"/>
          <p:cNvSpPr txBox="1"/>
          <p:nvPr/>
        </p:nvSpPr>
        <p:spPr>
          <a:xfrm>
            <a:off x="5852160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 배포</a:t>
            </a:r>
            <a:endParaRPr/>
          </a:p>
        </p:txBody>
      </p:sp>
      <p:sp>
        <p:nvSpPr>
          <p:cNvPr id="495" name="Google Shape;495;p28"/>
          <p:cNvSpPr txBox="1"/>
          <p:nvPr/>
        </p:nvSpPr>
        <p:spPr>
          <a:xfrm>
            <a:off x="5852160" y="310896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-of-</a:t>
            </a: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Safe 컨트랙트 배포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나의 EOA가 초기 Owner</a:t>
            </a:r>
            <a:endParaRPr/>
          </a:p>
        </p:txBody>
      </p:sp>
      <p:sp>
        <p:nvSpPr>
          <p:cNvPr id="496" name="Google Shape;496;p28"/>
          <p:cNvSpPr/>
          <p:nvPr/>
        </p:nvSpPr>
        <p:spPr>
          <a:xfrm>
            <a:off x="4937760" y="3566160"/>
            <a:ext cx="731520" cy="640080"/>
          </a:xfrm>
          <a:prstGeom prst="roundRect">
            <a:avLst>
              <a:gd fmla="val 4000" name="adj"/>
            </a:avLst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 txBox="1"/>
          <p:nvPr/>
        </p:nvSpPr>
        <p:spPr>
          <a:xfrm>
            <a:off x="4983480" y="37033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5852160" y="3611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교체 (swapOwner)</a:t>
            </a:r>
            <a:endParaRPr/>
          </a:p>
        </p:txBody>
      </p:sp>
      <p:sp>
        <p:nvSpPr>
          <p:cNvPr id="499" name="Google Shape;499;p28"/>
          <p:cNvSpPr txBox="1"/>
          <p:nvPr/>
        </p:nvSpPr>
        <p:spPr>
          <a:xfrm>
            <a:off x="5852160" y="38862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Owner를 새 주소로 교체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핵심: 키≠자산 체감</a:t>
            </a:r>
            <a:endParaRPr/>
          </a:p>
        </p:txBody>
      </p:sp>
      <p:sp>
        <p:nvSpPr>
          <p:cNvPr id="500" name="Google Shape;500;p28"/>
          <p:cNvSpPr/>
          <p:nvPr/>
        </p:nvSpPr>
        <p:spPr>
          <a:xfrm>
            <a:off x="4937760" y="4343400"/>
            <a:ext cx="731520" cy="64008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 txBox="1"/>
          <p:nvPr/>
        </p:nvSpPr>
        <p:spPr>
          <a:xfrm>
            <a:off x="4983480" y="44805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4</a:t>
            </a:r>
            <a:endParaRPr/>
          </a:p>
        </p:txBody>
      </p:sp>
      <p:sp>
        <p:nvSpPr>
          <p:cNvPr id="502" name="Google Shape;502;p28"/>
          <p:cNvSpPr txBox="1"/>
          <p:nvPr/>
        </p:nvSpPr>
        <p:spPr>
          <a:xfrm>
            <a:off x="5852160" y="4389120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교체된 키로 출금</a:t>
            </a:r>
            <a:endParaRPr/>
          </a:p>
        </p:txBody>
      </p:sp>
      <p:sp>
        <p:nvSpPr>
          <p:cNvPr id="503" name="Google Shape;503;p28"/>
          <p:cNvSpPr txBox="1"/>
          <p:nvPr/>
        </p:nvSpPr>
        <p:spPr>
          <a:xfrm>
            <a:off x="5852160" y="4663440"/>
            <a:ext cx="384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교체된 키로 서명하여 출금함</a:t>
            </a:r>
            <a:endParaRPr/>
          </a:p>
        </p:txBody>
      </p:sp>
      <p:sp>
        <p:nvSpPr>
          <p:cNvPr id="504" name="Google Shape;504;p2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505" name="Google Shape;505;p28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18 / 29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9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☕</a:t>
            </a:r>
            <a:endParaRPr/>
          </a:p>
        </p:txBody>
      </p:sp>
      <p:sp>
        <p:nvSpPr>
          <p:cNvPr id="512" name="Google Shape;512;p29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Break — 5분 휴식</a:t>
            </a:r>
            <a:endParaRPr/>
          </a:p>
        </p:txBody>
      </p:sp>
      <p:sp>
        <p:nvSpPr>
          <p:cNvPr id="513" name="Google Shape;513;p29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다음: Part 3 — Level 6 궁극의 기관 보안 모델</a:t>
            </a:r>
            <a:endParaRPr/>
          </a:p>
        </p:txBody>
      </p:sp>
      <p:sp>
        <p:nvSpPr>
          <p:cNvPr id="514" name="Google Shape;514;p29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515" name="Google Shape;515;p2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 / 29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3: 궁극의 모델</a:t>
            </a:r>
            <a:endParaRPr/>
          </a:p>
        </p:txBody>
      </p:sp>
      <p:sp>
        <p:nvSpPr>
          <p:cNvPr id="523" name="Google Shape;523;p30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6: 모든 보안 레이어를 결합한 최종 아키텍처</a:t>
            </a:r>
            <a:endParaRPr/>
          </a:p>
        </p:txBody>
      </p:sp>
      <p:sp>
        <p:nvSpPr>
          <p:cNvPr id="524" name="Google Shape;524;p30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  ·  PassKey + Quorum HSM + Smart Account</a:t>
            </a:r>
            <a:endParaRPr/>
          </a:p>
        </p:txBody>
      </p:sp>
      <p:sp>
        <p:nvSpPr>
          <p:cNvPr id="525" name="Google Shape;525;p30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526" name="Google Shape;526;p30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21 / 29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1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1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 vs EIP-7702: 언제 무엇을 쓸 것인가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731520" y="1280160"/>
            <a:ext cx="4846320" cy="3657600"/>
          </a:xfrm>
          <a:prstGeom prst="roundRect">
            <a:avLst>
              <a:gd fmla="val 4000" name="adj"/>
            </a:avLst>
          </a:prstGeom>
          <a:solidFill>
            <a:srgbClr val="170D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 txBox="1"/>
          <p:nvPr/>
        </p:nvSpPr>
        <p:spPr>
          <a:xfrm>
            <a:off x="1005840" y="1371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ERC-4337: Smart Account (새 계정)</a:t>
            </a:r>
            <a:endParaRPr/>
          </a:p>
        </p:txBody>
      </p:sp>
      <p:sp>
        <p:nvSpPr>
          <p:cNvPr id="536" name="Google Shape;536;p31"/>
          <p:cNvSpPr txBox="1"/>
          <p:nvPr/>
        </p:nvSpPr>
        <p:spPr>
          <a:xfrm>
            <a:off x="1005840" y="1828800"/>
            <a:ext cx="42976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새로운 Smart Account 생성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UserOp → Bundler → EntryPoint → Account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서명 방식 완전 자유 (PassKey, HSM 등)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Paymaster 가스비 대납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모듈 시스템 (기능 확장)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키 교체 · 복구 내장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적합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신규 서비스, 기관 자산관리, B2C 온보딩</a:t>
            </a:r>
            <a:endParaRPr/>
          </a:p>
        </p:txBody>
      </p:sp>
      <p:sp>
        <p:nvSpPr>
          <p:cNvPr id="537" name="Google Shape;537;p31"/>
          <p:cNvSpPr/>
          <p:nvPr/>
        </p:nvSpPr>
        <p:spPr>
          <a:xfrm>
            <a:off x="6035040" y="1280160"/>
            <a:ext cx="5029200" cy="3657600"/>
          </a:xfrm>
          <a:prstGeom prst="roundRect">
            <a:avLst>
              <a:gd fmla="val 4000" name="adj"/>
            </a:avLst>
          </a:prstGeom>
          <a:solidFill>
            <a:srgbClr val="0D14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1"/>
          <p:cNvSpPr txBox="1"/>
          <p:nvPr/>
        </p:nvSpPr>
        <p:spPr>
          <a:xfrm>
            <a:off x="630936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EIP-7702: EOA 업그레이드 (기존 계정)</a:t>
            </a:r>
            <a:endParaRPr/>
          </a:p>
        </p:txBody>
      </p:sp>
      <p:sp>
        <p:nvSpPr>
          <p:cNvPr id="539" name="Google Shape;539;p31"/>
          <p:cNvSpPr txBox="1"/>
          <p:nvPr/>
        </p:nvSpPr>
        <p:spPr>
          <a:xfrm>
            <a:off x="6309360" y="182880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EOA에 코드 위임 (delegation)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기존 주소 유지, 새 계정 불필요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배치 트랜잭션 (여러 tx → 하나)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스폰서드 트랜잭션 (가스비 대납)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점진적 마이그레이션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위임 해제 가능 (가역적)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적합</a:t>
            </a:r>
            <a:endParaRPr/>
          </a:p>
          <a:p>
            <a:pPr indent="0" lvl="0" marL="0" marR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기존 사용자, DeFi 파워유저, 점진적 도입</a:t>
            </a:r>
            <a:endParaRPr/>
          </a:p>
        </p:txBody>
      </p:sp>
      <p:sp>
        <p:nvSpPr>
          <p:cNvPr id="540" name="Google Shape;540;p31"/>
          <p:cNvSpPr/>
          <p:nvPr/>
        </p:nvSpPr>
        <p:spPr>
          <a:xfrm>
            <a:off x="731520" y="5120640"/>
            <a:ext cx="10728655" cy="13716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1005840" y="5166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기준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914400" y="5440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3108960" y="5440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</a:t>
            </a:r>
            <a:endParaRPr/>
          </a:p>
        </p:txBody>
      </p:sp>
      <p:sp>
        <p:nvSpPr>
          <p:cNvPr id="544" name="Google Shape;544;p31"/>
          <p:cNvSpPr txBox="1"/>
          <p:nvPr/>
        </p:nvSpPr>
        <p:spPr>
          <a:xfrm>
            <a:off x="5760720" y="5440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EIP-7702</a:t>
            </a:r>
            <a:endParaRPr/>
          </a:p>
        </p:txBody>
      </p:sp>
      <p:sp>
        <p:nvSpPr>
          <p:cNvPr id="545" name="Google Shape;545;p31"/>
          <p:cNvSpPr txBox="1"/>
          <p:nvPr/>
        </p:nvSpPr>
        <p:spPr>
          <a:xfrm>
            <a:off x="914400" y="566928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EOA 유지?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3108960" y="566928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E84D4D"/>
                </a:solidFill>
                <a:latin typeface="Malgun Gothic"/>
                <a:ea typeface="Malgun Gothic"/>
                <a:cs typeface="Malgun Gothic"/>
                <a:sym typeface="Malgun Gothic"/>
              </a:rPr>
              <a:t>❌ 새 주소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5760720" y="566928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기존 주소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914400" y="5870448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서명 방식 자유도</a:t>
            </a:r>
            <a:endParaRPr/>
          </a:p>
        </p:txBody>
      </p:sp>
      <p:sp>
        <p:nvSpPr>
          <p:cNvPr id="549" name="Google Shape;549;p31"/>
          <p:cNvSpPr txBox="1"/>
          <p:nvPr/>
        </p:nvSpPr>
        <p:spPr>
          <a:xfrm>
            <a:off x="3108960" y="587044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완전 자유 (PassKey/HSM)</a:t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5760720" y="587044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 EOA 키 + 위임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914400" y="6071616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Paymaster (가스 대납)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3108960" y="607161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네이티브 지원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5760720" y="6071616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스폰서 가능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914400" y="6272784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교체 · 복구</a:t>
            </a:r>
            <a:endParaRPr/>
          </a:p>
        </p:txBody>
      </p:sp>
      <p:sp>
        <p:nvSpPr>
          <p:cNvPr id="555" name="Google Shape;555;p31"/>
          <p:cNvSpPr txBox="1"/>
          <p:nvPr/>
        </p:nvSpPr>
        <p:spPr>
          <a:xfrm>
            <a:off x="3108960" y="627278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 완전 지원 (Guardian)</a:t>
            </a:r>
            <a:endParaRPr/>
          </a:p>
        </p:txBody>
      </p:sp>
      <p:sp>
        <p:nvSpPr>
          <p:cNvPr id="556" name="Google Shape;556;p31"/>
          <p:cNvSpPr txBox="1"/>
          <p:nvPr/>
        </p:nvSpPr>
        <p:spPr>
          <a:xfrm>
            <a:off x="5760720" y="627278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△ 제한적</a:t>
            </a:r>
            <a:endParaRPr/>
          </a:p>
        </p:txBody>
      </p:sp>
      <p:sp>
        <p:nvSpPr>
          <p:cNvPr id="557" name="Google Shape;557;p31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22 / 29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6: 기관급 키관리 + 자산관리</a:t>
            </a:r>
            <a:endParaRPr/>
          </a:p>
        </p:txBody>
      </p:sp>
      <p:sp>
        <p:nvSpPr>
          <p:cNvPr id="566" name="Google Shape;566;p32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2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</a:t>
            </a:r>
            <a:endParaRPr/>
          </a:p>
        </p:txBody>
      </p:sp>
      <p:sp>
        <p:nvSpPr>
          <p:cNvPr id="568" name="Google Shape;568;p32"/>
          <p:cNvSpPr/>
          <p:nvPr/>
        </p:nvSpPr>
        <p:spPr>
          <a:xfrm>
            <a:off x="731520" y="1280160"/>
            <a:ext cx="4846320" cy="4572000"/>
          </a:xfrm>
          <a:prstGeom prst="roundRect">
            <a:avLst>
              <a:gd fmla="val 4000" name="adj"/>
            </a:avLst>
          </a:prstGeom>
          <a:solidFill>
            <a:srgbClr val="170D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2"/>
          <p:cNvSpPr txBox="1"/>
          <p:nvPr/>
        </p:nvSpPr>
        <p:spPr>
          <a:xfrm>
            <a:off x="1005840" y="1371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키관리 (Key Management)</a:t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914400" y="1920240"/>
            <a:ext cx="448056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1097280" y="1965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키 생성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1097280" y="22402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 하드웨어 내부 → 추출 불가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914400" y="2697480"/>
            <a:ext cx="448056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1097280" y="274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인증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1097280" y="30175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PassKey/FIDO2 → 피싱 원천 차단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914400" y="3474720"/>
            <a:ext cx="448056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 txBox="1"/>
          <p:nvPr/>
        </p:nvSpPr>
        <p:spPr>
          <a:xfrm>
            <a:off x="1097280" y="35204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다자 승인</a:t>
            </a:r>
            <a:endParaRPr/>
          </a:p>
        </p:txBody>
      </p:sp>
      <p:sp>
        <p:nvSpPr>
          <p:cNvPr id="578" name="Google Shape;578;p32"/>
          <p:cNvSpPr txBox="1"/>
          <p:nvPr/>
        </p:nvSpPr>
        <p:spPr>
          <a:xfrm>
            <a:off x="1097280" y="3794759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SKA N-of-M → 하드웨어가 강제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914400" y="4251960"/>
            <a:ext cx="448056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2"/>
          <p:cNvSpPr txBox="1"/>
          <p:nvPr/>
        </p:nvSpPr>
        <p:spPr>
          <a:xfrm>
            <a:off x="1097280" y="4297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키 교체</a:t>
            </a:r>
            <a:endParaRPr/>
          </a:p>
        </p:txBody>
      </p:sp>
      <p:sp>
        <p:nvSpPr>
          <p:cNvPr id="581" name="Google Shape;581;p32"/>
          <p:cNvSpPr txBox="1"/>
          <p:nvPr/>
        </p:nvSpPr>
        <p:spPr>
          <a:xfrm>
            <a:off x="1097280" y="45720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Account swapOwner → 키≠자산</a:t>
            </a:r>
            <a:endParaRPr/>
          </a:p>
        </p:txBody>
      </p:sp>
      <p:sp>
        <p:nvSpPr>
          <p:cNvPr id="582" name="Google Shape;582;p32"/>
          <p:cNvSpPr/>
          <p:nvPr/>
        </p:nvSpPr>
        <p:spPr>
          <a:xfrm>
            <a:off x="914400" y="5029200"/>
            <a:ext cx="448056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2"/>
          <p:cNvSpPr txBox="1"/>
          <p:nvPr/>
        </p:nvSpPr>
        <p:spPr>
          <a:xfrm>
            <a:off x="1097280" y="5074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키 복구</a:t>
            </a:r>
            <a:endParaRPr/>
          </a:p>
        </p:txBody>
      </p:sp>
      <p:sp>
        <p:nvSpPr>
          <p:cNvPr id="584" name="Google Shape;584;p32"/>
          <p:cNvSpPr txBox="1"/>
          <p:nvPr/>
        </p:nvSpPr>
        <p:spPr>
          <a:xfrm>
            <a:off x="1097280" y="53492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Guardian/Social Recovery → 온체인</a:t>
            </a:r>
            <a:endParaRPr/>
          </a:p>
        </p:txBody>
      </p:sp>
      <p:sp>
        <p:nvSpPr>
          <p:cNvPr id="585" name="Google Shape;585;p32"/>
          <p:cNvSpPr/>
          <p:nvPr/>
        </p:nvSpPr>
        <p:spPr>
          <a:xfrm>
            <a:off x="6035040" y="1280160"/>
            <a:ext cx="5029200" cy="4572000"/>
          </a:xfrm>
          <a:prstGeom prst="roundRect">
            <a:avLst>
              <a:gd fmla="val 4000" name="adj"/>
            </a:avLst>
          </a:prstGeom>
          <a:solidFill>
            <a:srgbClr val="0D14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30936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자산관리 (Asset Management)</a:t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6217920" y="1920240"/>
            <a:ext cx="466344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6400800" y="1965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정책 강제</a:t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6400800" y="224028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온체인 규칙: 금액제한, 화이트리스트, 시간잠금</a:t>
            </a:r>
            <a:endParaRPr/>
          </a:p>
        </p:txBody>
      </p:sp>
      <p:sp>
        <p:nvSpPr>
          <p:cNvPr id="590" name="Google Shape;590;p32"/>
          <p:cNvSpPr/>
          <p:nvPr/>
        </p:nvSpPr>
        <p:spPr>
          <a:xfrm>
            <a:off x="6217920" y="2697480"/>
            <a:ext cx="466344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6400800" y="2743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가스 대납</a:t>
            </a:r>
            <a:endParaRPr/>
          </a:p>
        </p:txBody>
      </p:sp>
      <p:sp>
        <p:nvSpPr>
          <p:cNvPr id="592" name="Google Shape;592;p32"/>
          <p:cNvSpPr txBox="1"/>
          <p:nvPr/>
        </p:nvSpPr>
        <p:spPr>
          <a:xfrm>
            <a:off x="6400800" y="301752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Paymaster → 고객 ETH 불필요</a:t>
            </a:r>
            <a:endParaRPr/>
          </a:p>
        </p:txBody>
      </p:sp>
      <p:sp>
        <p:nvSpPr>
          <p:cNvPr id="593" name="Google Shape;593;p32"/>
          <p:cNvSpPr/>
          <p:nvPr/>
        </p:nvSpPr>
        <p:spPr>
          <a:xfrm>
            <a:off x="6217920" y="3474720"/>
            <a:ext cx="466344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 txBox="1"/>
          <p:nvPr/>
        </p:nvSpPr>
        <p:spPr>
          <a:xfrm>
            <a:off x="6400800" y="352043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감사 추적</a:t>
            </a:r>
            <a:endParaRPr/>
          </a:p>
        </p:txBody>
      </p:sp>
      <p:sp>
        <p:nvSpPr>
          <p:cNvPr id="595" name="Google Shape;595;p32"/>
          <p:cNvSpPr txBox="1"/>
          <p:nvPr/>
        </p:nvSpPr>
        <p:spPr>
          <a:xfrm>
            <a:off x="6400800" y="3794759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tx 온체인 기록 → 규제 대응</a:t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6217920" y="4251960"/>
            <a:ext cx="466344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2"/>
          <p:cNvSpPr txBox="1"/>
          <p:nvPr/>
        </p:nvSpPr>
        <p:spPr>
          <a:xfrm>
            <a:off x="6400800" y="4297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배치 처리</a:t>
            </a:r>
            <a:endParaRPr/>
          </a:p>
        </p:txBody>
      </p:sp>
      <p:sp>
        <p:nvSpPr>
          <p:cNvPr id="598" name="Google Shape;598;p32"/>
          <p:cNvSpPr txBox="1"/>
          <p:nvPr/>
        </p:nvSpPr>
        <p:spPr>
          <a:xfrm>
            <a:off x="6400800" y="457200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tx 원자적 실행 (EIP-7702)</a:t>
            </a:r>
            <a:endParaRPr/>
          </a:p>
        </p:txBody>
      </p:sp>
      <p:sp>
        <p:nvSpPr>
          <p:cNvPr id="599" name="Google Shape;599;p32"/>
          <p:cNvSpPr/>
          <p:nvPr/>
        </p:nvSpPr>
        <p:spPr>
          <a:xfrm>
            <a:off x="6217920" y="5029200"/>
            <a:ext cx="4663440" cy="64008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2"/>
          <p:cNvSpPr txBox="1"/>
          <p:nvPr/>
        </p:nvSpPr>
        <p:spPr>
          <a:xfrm>
            <a:off x="6400800" y="507492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규제 인증</a:t>
            </a:r>
            <a:endParaRPr/>
          </a:p>
        </p:txBody>
      </p:sp>
      <p:sp>
        <p:nvSpPr>
          <p:cNvPr id="601" name="Google Shape;601;p32"/>
          <p:cNvSpPr txBox="1"/>
          <p:nvPr/>
        </p:nvSpPr>
        <p:spPr>
          <a:xfrm>
            <a:off x="6400800" y="5349240"/>
            <a:ext cx="4297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FIPS 140-2 Level 3 → 금융 규제 충족</a:t>
            </a:r>
            <a:endParaRPr/>
          </a:p>
        </p:txBody>
      </p:sp>
      <p:sp>
        <p:nvSpPr>
          <p:cNvPr id="602" name="Google Shape;602;p32"/>
          <p:cNvSpPr/>
          <p:nvPr/>
        </p:nvSpPr>
        <p:spPr>
          <a:xfrm>
            <a:off x="731520" y="5943600"/>
            <a:ext cx="10728655" cy="502920"/>
          </a:xfrm>
          <a:prstGeom prst="roundRect">
            <a:avLst>
              <a:gd fmla="val 4000" name="adj"/>
            </a:avLst>
          </a:prstGeom>
          <a:solidFill>
            <a:srgbClr val="1F17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PassKey(인증) + Quorum HSM(서명) + Smart Account(정책) = 기관급 키관리·자산관리 완성</a:t>
            </a:r>
            <a:endParaRPr/>
          </a:p>
        </p:txBody>
      </p:sp>
      <p:sp>
        <p:nvSpPr>
          <p:cNvPr id="604" name="Google Shape;604;p32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605" name="Google Shape;605;p32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23 / 29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3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시나리오: $10M USDC 이체</a:t>
            </a:r>
            <a:endParaRPr/>
          </a:p>
        </p:txBody>
      </p:sp>
      <p:sp>
        <p:nvSpPr>
          <p:cNvPr id="613" name="Google Shape;613;p33"/>
          <p:cNvSpPr/>
          <p:nvPr/>
        </p:nvSpPr>
        <p:spPr>
          <a:xfrm>
            <a:off x="9814255" y="594360"/>
            <a:ext cx="1645920" cy="32004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3"/>
          <p:cNvSpPr txBox="1"/>
          <p:nvPr/>
        </p:nvSpPr>
        <p:spPr>
          <a:xfrm>
            <a:off x="9905695" y="6126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731520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1280160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1280160" y="13898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618" name="Google Shape;618;p33"/>
          <p:cNvSpPr txBox="1"/>
          <p:nvPr/>
        </p:nvSpPr>
        <p:spPr>
          <a:xfrm>
            <a:off x="822960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트레이더</a:t>
            </a:r>
            <a:br>
              <a:rPr b="1" i="0" lang="en-US" sz="11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YubiKey 인증</a:t>
            </a:r>
            <a:endParaRPr/>
          </a:p>
        </p:txBody>
      </p:sp>
      <p:sp>
        <p:nvSpPr>
          <p:cNvPr id="619" name="Google Shape;619;p33"/>
          <p:cNvSpPr txBox="1"/>
          <p:nvPr/>
        </p:nvSpPr>
        <p:spPr>
          <a:xfrm>
            <a:off x="82296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FIDO2 본인확인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터치</a:t>
            </a:r>
            <a:endParaRPr/>
          </a:p>
        </p:txBody>
      </p:sp>
      <p:sp>
        <p:nvSpPr>
          <p:cNvPr id="620" name="Google Shape;620;p33"/>
          <p:cNvSpPr txBox="1"/>
          <p:nvPr/>
        </p:nvSpPr>
        <p:spPr>
          <a:xfrm>
            <a:off x="233172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621" name="Google Shape;621;p33"/>
          <p:cNvSpPr/>
          <p:nvPr/>
        </p:nvSpPr>
        <p:spPr>
          <a:xfrm>
            <a:off x="2514600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3"/>
          <p:cNvSpPr/>
          <p:nvPr/>
        </p:nvSpPr>
        <p:spPr>
          <a:xfrm>
            <a:off x="3063240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3"/>
          <p:cNvSpPr txBox="1"/>
          <p:nvPr/>
        </p:nvSpPr>
        <p:spPr>
          <a:xfrm>
            <a:off x="3063240" y="13898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624" name="Google Shape;624;p33"/>
          <p:cNvSpPr txBox="1"/>
          <p:nvPr/>
        </p:nvSpPr>
        <p:spPr>
          <a:xfrm>
            <a:off x="2606040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HSM에</a:t>
            </a:r>
            <a:br>
              <a:rPr b="1" i="0" lang="en-US" sz="11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이체 요청</a:t>
            </a:r>
            <a:endParaRPr/>
          </a:p>
        </p:txBody>
      </p:sp>
      <p:sp>
        <p:nvSpPr>
          <p:cNvPr id="625" name="Google Shape;625;p33"/>
          <p:cNvSpPr txBox="1"/>
          <p:nvPr/>
        </p:nvSpPr>
        <p:spPr>
          <a:xfrm>
            <a:off x="260604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API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금액/수신자 전송</a:t>
            </a:r>
            <a:endParaRPr/>
          </a:p>
        </p:txBody>
      </p:sp>
      <p:sp>
        <p:nvSpPr>
          <p:cNvPr id="626" name="Google Shape;626;p33"/>
          <p:cNvSpPr txBox="1"/>
          <p:nvPr/>
        </p:nvSpPr>
        <p:spPr>
          <a:xfrm>
            <a:off x="411480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627" name="Google Shape;627;p33"/>
          <p:cNvSpPr/>
          <p:nvPr/>
        </p:nvSpPr>
        <p:spPr>
          <a:xfrm>
            <a:off x="4297680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4846320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 txBox="1"/>
          <p:nvPr/>
        </p:nvSpPr>
        <p:spPr>
          <a:xfrm>
            <a:off x="4846320" y="13898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630" name="Google Shape;630;p33"/>
          <p:cNvSpPr txBox="1"/>
          <p:nvPr/>
        </p:nvSpPr>
        <p:spPr>
          <a:xfrm>
            <a:off x="4389120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중 3명</a:t>
            </a:r>
            <a:b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승인</a:t>
            </a:r>
            <a:endParaRPr/>
          </a:p>
        </p:txBody>
      </p:sp>
      <p:sp>
        <p:nvSpPr>
          <p:cNvPr id="631" name="Google Shape;631;p33"/>
          <p:cNvSpPr txBox="1"/>
          <p:nvPr/>
        </p:nvSpPr>
        <p:spPr>
          <a:xfrm>
            <a:off x="438912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Authorization App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생체인증</a:t>
            </a:r>
            <a:endParaRPr/>
          </a:p>
        </p:txBody>
      </p:sp>
      <p:sp>
        <p:nvSpPr>
          <p:cNvPr id="632" name="Google Shape;632;p33"/>
          <p:cNvSpPr txBox="1"/>
          <p:nvPr/>
        </p:nvSpPr>
        <p:spPr>
          <a:xfrm>
            <a:off x="589788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633" name="Google Shape;633;p33"/>
          <p:cNvSpPr/>
          <p:nvPr/>
        </p:nvSpPr>
        <p:spPr>
          <a:xfrm>
            <a:off x="6080759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6629399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3"/>
          <p:cNvSpPr txBox="1"/>
          <p:nvPr/>
        </p:nvSpPr>
        <p:spPr>
          <a:xfrm>
            <a:off x="6629399" y="13898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636" name="Google Shape;636;p33"/>
          <p:cNvSpPr txBox="1"/>
          <p:nvPr/>
        </p:nvSpPr>
        <p:spPr>
          <a:xfrm>
            <a:off x="6172199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</a:t>
            </a:r>
            <a:br>
              <a:rPr b="1" i="0" lang="en-US" sz="11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서명 수행</a:t>
            </a:r>
            <a:endParaRPr/>
          </a:p>
        </p:txBody>
      </p:sp>
      <p:sp>
        <p:nvSpPr>
          <p:cNvPr id="637" name="Google Shape;637;p33"/>
          <p:cNvSpPr txBox="1"/>
          <p:nvPr/>
        </p:nvSpPr>
        <p:spPr>
          <a:xfrm>
            <a:off x="6172199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Quorum 충족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HW 내부 서명</a:t>
            </a:r>
            <a:endParaRPr/>
          </a:p>
        </p:txBody>
      </p:sp>
      <p:sp>
        <p:nvSpPr>
          <p:cNvPr id="638" name="Google Shape;638;p33"/>
          <p:cNvSpPr txBox="1"/>
          <p:nvPr/>
        </p:nvSpPr>
        <p:spPr>
          <a:xfrm>
            <a:off x="7680959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>
            <a:off x="7863840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8412480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3"/>
          <p:cNvSpPr txBox="1"/>
          <p:nvPr/>
        </p:nvSpPr>
        <p:spPr>
          <a:xfrm>
            <a:off x="8412480" y="138988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642" name="Google Shape;642;p33"/>
          <p:cNvSpPr txBox="1"/>
          <p:nvPr/>
        </p:nvSpPr>
        <p:spPr>
          <a:xfrm>
            <a:off x="7955279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Account</a:t>
            </a:r>
            <a:br>
              <a:rPr b="1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온체인 검증</a:t>
            </a:r>
            <a:endParaRPr/>
          </a:p>
        </p:txBody>
      </p:sp>
      <p:sp>
        <p:nvSpPr>
          <p:cNvPr id="643" name="Google Shape;643;p33"/>
          <p:cNvSpPr txBox="1"/>
          <p:nvPr/>
        </p:nvSpPr>
        <p:spPr>
          <a:xfrm>
            <a:off x="7955279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 다자승인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 확인</a:t>
            </a:r>
            <a:endParaRPr/>
          </a:p>
        </p:txBody>
      </p:sp>
      <p:sp>
        <p:nvSpPr>
          <p:cNvPr id="644" name="Google Shape;644;p33"/>
          <p:cNvSpPr txBox="1"/>
          <p:nvPr/>
        </p:nvSpPr>
        <p:spPr>
          <a:xfrm>
            <a:off x="946404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9646920" y="1280160"/>
            <a:ext cx="1600200" cy="25603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10195560" y="1371600"/>
            <a:ext cx="502920" cy="4114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3"/>
          <p:cNvSpPr txBox="1"/>
          <p:nvPr/>
        </p:nvSpPr>
        <p:spPr>
          <a:xfrm>
            <a:off x="10195560" y="1389888"/>
            <a:ext cx="50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0D0D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>
              <a:solidFill>
                <a:srgbClr val="0D0D0D"/>
              </a:solidFill>
            </a:endParaRPr>
          </a:p>
        </p:txBody>
      </p:sp>
      <p:sp>
        <p:nvSpPr>
          <p:cNvPr id="648" name="Google Shape;648;p33"/>
          <p:cNvSpPr txBox="1"/>
          <p:nvPr/>
        </p:nvSpPr>
        <p:spPr>
          <a:xfrm>
            <a:off x="9738360" y="192024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블록체인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 완료</a:t>
            </a:r>
            <a:endParaRPr/>
          </a:p>
        </p:txBody>
      </p:sp>
      <p:sp>
        <p:nvSpPr>
          <p:cNvPr id="649" name="Google Shape;649;p33"/>
          <p:cNvSpPr txBox="1"/>
          <p:nvPr/>
        </p:nvSpPr>
        <p:spPr>
          <a:xfrm>
            <a:off x="9738360" y="256032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USDC 이체</a:t>
            </a:r>
            <a:b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9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 기록</a:t>
            </a:r>
            <a:endParaRPr/>
          </a:p>
        </p:txBody>
      </p:sp>
      <p:sp>
        <p:nvSpPr>
          <p:cNvPr id="650" name="Google Shape;650;p33"/>
          <p:cNvSpPr/>
          <p:nvPr/>
        </p:nvSpPr>
        <p:spPr>
          <a:xfrm>
            <a:off x="731520" y="4114800"/>
            <a:ext cx="10728655" cy="18288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3"/>
          <p:cNvSpPr txBox="1"/>
          <p:nvPr/>
        </p:nvSpPr>
        <p:spPr>
          <a:xfrm>
            <a:off x="1005840" y="41605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특성</a:t>
            </a:r>
            <a:endParaRPr/>
          </a:p>
        </p:txBody>
      </p:sp>
      <p:sp>
        <p:nvSpPr>
          <p:cNvPr id="652" name="Google Shape;652;p33"/>
          <p:cNvSpPr txBox="1"/>
          <p:nvPr/>
        </p:nvSpPr>
        <p:spPr>
          <a:xfrm>
            <a:off x="1005840" y="4526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노출 = 0</a:t>
            </a:r>
            <a:endParaRPr/>
          </a:p>
        </p:txBody>
      </p:sp>
      <p:sp>
        <p:nvSpPr>
          <p:cNvPr id="653" name="Google Shape;653;p33"/>
          <p:cNvSpPr txBox="1"/>
          <p:nvPr/>
        </p:nvSpPr>
        <p:spPr>
          <a:xfrm>
            <a:off x="1005840" y="4846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개인키가 어디에서도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평문으로 존재하지 않음</a:t>
            </a:r>
            <a:endParaRPr/>
          </a:p>
        </p:txBody>
      </p:sp>
      <p:sp>
        <p:nvSpPr>
          <p:cNvPr id="654" name="Google Shape;654;p33"/>
          <p:cNvSpPr txBox="1"/>
          <p:nvPr/>
        </p:nvSpPr>
        <p:spPr>
          <a:xfrm>
            <a:off x="3611880" y="4526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단독 서명 불가</a:t>
            </a:r>
            <a:endParaRPr/>
          </a:p>
        </p:txBody>
      </p:sp>
      <p:sp>
        <p:nvSpPr>
          <p:cNvPr id="655" name="Google Shape;655;p33"/>
          <p:cNvSpPr txBox="1"/>
          <p:nvPr/>
        </p:nvSpPr>
        <p:spPr>
          <a:xfrm>
            <a:off x="3611880" y="4846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중 3명이 승인해야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HSM이 서명 수행</a:t>
            </a:r>
            <a:endParaRPr/>
          </a:p>
        </p:txBody>
      </p:sp>
      <p:sp>
        <p:nvSpPr>
          <p:cNvPr id="656" name="Google Shape;656;p33"/>
          <p:cNvSpPr txBox="1"/>
          <p:nvPr/>
        </p:nvSpPr>
        <p:spPr>
          <a:xfrm>
            <a:off x="6217920" y="4526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온체인 정책 강제</a:t>
            </a:r>
            <a:endParaRPr/>
          </a:p>
        </p:txBody>
      </p:sp>
      <p:sp>
        <p:nvSpPr>
          <p:cNvPr id="657" name="Google Shape;657;p33"/>
          <p:cNvSpPr txBox="1"/>
          <p:nvPr/>
        </p:nvSpPr>
        <p:spPr>
          <a:xfrm>
            <a:off x="6217920" y="4846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Account가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금액/수신자 검증</a:t>
            </a:r>
            <a:endParaRPr/>
          </a:p>
        </p:txBody>
      </p:sp>
      <p:sp>
        <p:nvSpPr>
          <p:cNvPr id="658" name="Google Shape;658;p33"/>
          <p:cNvSpPr txBox="1"/>
          <p:nvPr/>
        </p:nvSpPr>
        <p:spPr>
          <a:xfrm>
            <a:off x="8823960" y="45262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 추적 완전</a:t>
            </a:r>
            <a:endParaRPr/>
          </a:p>
        </p:txBody>
      </p:sp>
      <p:sp>
        <p:nvSpPr>
          <p:cNvPr id="659" name="Google Shape;659;p33"/>
          <p:cNvSpPr txBox="1"/>
          <p:nvPr/>
        </p:nvSpPr>
        <p:spPr>
          <a:xfrm>
            <a:off x="8823960" y="4846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단계가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기록/추적 가능</a:t>
            </a:r>
            <a:endParaRPr/>
          </a:p>
        </p:txBody>
      </p:sp>
      <p:sp>
        <p:nvSpPr>
          <p:cNvPr id="660" name="Google Shape;660;p33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661" name="Google Shape;661;p3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24 / 29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4"/>
          <p:cNvSpPr/>
          <p:nvPr/>
        </p:nvSpPr>
        <p:spPr>
          <a:xfrm>
            <a:off x="731520" y="2560320"/>
            <a:ext cx="1828800" cy="45720"/>
          </a:xfrm>
          <a:prstGeom prst="rect">
            <a:avLst/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4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2: ERC-4337 &amp; EIP-7702 실습</a:t>
            </a:r>
            <a:endParaRPr/>
          </a:p>
        </p:txBody>
      </p:sp>
      <p:sp>
        <p:nvSpPr>
          <p:cNvPr id="669" name="Google Shape;669;p34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Account 배포 + EOA 업그레이드를 각각 체험</a:t>
            </a:r>
            <a:endParaRPr/>
          </a:p>
        </p:txBody>
      </p:sp>
      <p:sp>
        <p:nvSpPr>
          <p:cNvPr id="670" name="Google Shape;670;p34"/>
          <p:cNvSpPr txBox="1"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  ·  20분</a:t>
            </a:r>
            <a:endParaRPr/>
          </a:p>
        </p:txBody>
      </p:sp>
      <p:sp>
        <p:nvSpPr>
          <p:cNvPr id="671" name="Google Shape;671;p34"/>
          <p:cNvSpPr txBox="1"/>
          <p:nvPr/>
        </p:nvSpPr>
        <p:spPr>
          <a:xfrm>
            <a:off x="731520" y="502920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ERC-4337, </a:t>
            </a:r>
            <a:r>
              <a:rPr lang="en-US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EIP-7702</a:t>
            </a:r>
            <a:r>
              <a:rPr b="0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: PassKey</a:t>
            </a:r>
            <a:r>
              <a:rPr lang="en-US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, 배치 tx</a:t>
            </a:r>
            <a:r>
              <a:rPr b="0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수수료 대납</a:t>
            </a:r>
            <a:endParaRPr/>
          </a:p>
        </p:txBody>
      </p:sp>
      <p:sp>
        <p:nvSpPr>
          <p:cNvPr id="672" name="Google Shape;672;p34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673" name="Google Shape;673;p3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25 / 29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5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5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2-A: ERC-4337 Smart Account 실습</a:t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731520" y="1280160"/>
            <a:ext cx="5029200" cy="4572000"/>
          </a:xfrm>
          <a:prstGeom prst="roundRect">
            <a:avLst>
              <a:gd fmla="val 4000" name="adj"/>
            </a:avLst>
          </a:prstGeom>
          <a:solidFill>
            <a:srgbClr val="170D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 txBox="1"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3 Steps</a:t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914400" y="18288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1005840" y="19202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 txBox="1"/>
          <p:nvPr/>
        </p:nvSpPr>
        <p:spPr>
          <a:xfrm>
            <a:off x="1051560" y="1938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/>
          </a:p>
        </p:txBody>
      </p:sp>
      <p:sp>
        <p:nvSpPr>
          <p:cNvPr id="686" name="Google Shape;686;p35"/>
          <p:cNvSpPr txBox="1"/>
          <p:nvPr/>
        </p:nvSpPr>
        <p:spPr>
          <a:xfrm>
            <a:off x="19202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Account 배포</a:t>
            </a:r>
            <a:endParaRPr/>
          </a:p>
        </p:txBody>
      </p:sp>
      <p:sp>
        <p:nvSpPr>
          <p:cNvPr id="687" name="Google Shape;687;p35"/>
          <p:cNvSpPr txBox="1"/>
          <p:nvPr/>
        </p:nvSpPr>
        <p:spPr>
          <a:xfrm>
            <a:off x="1920240" y="22860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PassKey로 Owner 설정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ERC-4337 계정 생성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새 주소 할당 확인</a:t>
            </a:r>
            <a:endParaRPr/>
          </a:p>
        </p:txBody>
      </p:sp>
      <p:sp>
        <p:nvSpPr>
          <p:cNvPr id="688" name="Google Shape;688;p35"/>
          <p:cNvSpPr/>
          <p:nvPr/>
        </p:nvSpPr>
        <p:spPr>
          <a:xfrm>
            <a:off x="914400" y="32004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1005840" y="32918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 txBox="1"/>
          <p:nvPr/>
        </p:nvSpPr>
        <p:spPr>
          <a:xfrm>
            <a:off x="1051560" y="3310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/>
          </a:p>
        </p:txBody>
      </p:sp>
      <p:sp>
        <p:nvSpPr>
          <p:cNvPr id="691" name="Google Shape;691;p35"/>
          <p:cNvSpPr txBox="1"/>
          <p:nvPr/>
        </p:nvSpPr>
        <p:spPr>
          <a:xfrm>
            <a:off x="192024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서명</a:t>
            </a:r>
            <a:endParaRPr/>
          </a:p>
        </p:txBody>
      </p:sp>
      <p:sp>
        <p:nvSpPr>
          <p:cNvPr id="692" name="Google Shape;692;p35"/>
          <p:cNvSpPr txBox="1"/>
          <p:nvPr/>
        </p:nvSpPr>
        <p:spPr>
          <a:xfrm>
            <a:off x="1920240" y="3657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생체인증 한 번으로 UserOp 서명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개인키 관리 = 0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Bundler가 tx 전송</a:t>
            </a:r>
            <a:endParaRPr/>
          </a:p>
        </p:txBody>
      </p:sp>
      <p:sp>
        <p:nvSpPr>
          <p:cNvPr id="693" name="Google Shape;693;p35"/>
          <p:cNvSpPr/>
          <p:nvPr/>
        </p:nvSpPr>
        <p:spPr>
          <a:xfrm>
            <a:off x="914400" y="45720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1005840" y="46634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5"/>
          <p:cNvSpPr txBox="1"/>
          <p:nvPr/>
        </p:nvSpPr>
        <p:spPr>
          <a:xfrm>
            <a:off x="1051560" y="46817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/>
          </a:p>
        </p:txBody>
      </p:sp>
      <p:sp>
        <p:nvSpPr>
          <p:cNvPr id="696" name="Google Shape;696;p35"/>
          <p:cNvSpPr txBox="1"/>
          <p:nvPr/>
        </p:nvSpPr>
        <p:spPr>
          <a:xfrm>
            <a:off x="1920240" y="466344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릴레이어</a:t>
            </a:r>
            <a:r>
              <a:rPr b="1" i="0" lang="en-US" sz="13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가스 대납</a:t>
            </a:r>
            <a:endParaRPr/>
          </a:p>
        </p:txBody>
      </p:sp>
      <p:sp>
        <p:nvSpPr>
          <p:cNvPr id="697" name="Google Shape;697;p35"/>
          <p:cNvSpPr txBox="1"/>
          <p:nvPr/>
        </p:nvSpPr>
        <p:spPr>
          <a:xfrm>
            <a:off x="1920240" y="5029200"/>
            <a:ext cx="3200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가스비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없이 트랜잭션 전송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가스비 = 기관 부담</a:t>
            </a:r>
            <a:endParaRPr/>
          </a:p>
        </p:txBody>
      </p:sp>
      <p:sp>
        <p:nvSpPr>
          <p:cNvPr id="698" name="Google Shape;698;p35"/>
          <p:cNvSpPr/>
          <p:nvPr/>
        </p:nvSpPr>
        <p:spPr>
          <a:xfrm>
            <a:off x="6217920" y="1280160"/>
            <a:ext cx="4846320" cy="27432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5"/>
          <p:cNvSpPr txBox="1"/>
          <p:nvPr/>
        </p:nvSpPr>
        <p:spPr>
          <a:xfrm>
            <a:off x="6492240" y="1371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체감 포인트</a:t>
            </a:r>
            <a:endParaRPr/>
          </a:p>
        </p:txBody>
      </p:sp>
      <p:sp>
        <p:nvSpPr>
          <p:cNvPr id="700" name="Google Shape;700;p35"/>
          <p:cNvSpPr txBox="1"/>
          <p:nvPr/>
        </p:nvSpPr>
        <p:spPr>
          <a:xfrm>
            <a:off x="6492240" y="1828800"/>
            <a:ext cx="42976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= 지갑의 열쇠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개인키를 모르는 상태에서 서명 가능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지문/Face ID 한 번 = 트랜잭션 서명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Paymaster = 기관의 가스비 관리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고객은 ETH 잔액 불필요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Web2 수준의 사용자 경험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기관이 고객에게 제공할 서비스 형태</a:t>
            </a:r>
            <a:endParaRPr/>
          </a:p>
        </p:txBody>
      </p:sp>
      <p:sp>
        <p:nvSpPr>
          <p:cNvPr id="701" name="Google Shape;701;p35"/>
          <p:cNvSpPr/>
          <p:nvPr/>
        </p:nvSpPr>
        <p:spPr>
          <a:xfrm>
            <a:off x="6217920" y="4206240"/>
            <a:ext cx="4846320" cy="164592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5"/>
          <p:cNvSpPr txBox="1"/>
          <p:nvPr/>
        </p:nvSpPr>
        <p:spPr>
          <a:xfrm>
            <a:off x="6492240" y="42976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ERC-4337을 선택하는 경우</a:t>
            </a:r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6492240" y="475488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처음부터 새 계정 시스템 설계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PassKey/HSM 등 커스텀 서명 필요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키 교체 · 복구 기능 필수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Paymaster 가스비 대납 필요</a:t>
            </a:r>
            <a:endParaRPr/>
          </a:p>
        </p:txBody>
      </p:sp>
      <p:sp>
        <p:nvSpPr>
          <p:cNvPr id="704" name="Google Shape;704;p35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705" name="Google Shape;705;p3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26 / 29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6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6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 2-B: EIP-7702 EOA 업그레이드 실습</a:t>
            </a:r>
            <a:endParaRPr/>
          </a:p>
        </p:txBody>
      </p:sp>
      <p:sp>
        <p:nvSpPr>
          <p:cNvPr id="713" name="Google Shape;713;p36"/>
          <p:cNvSpPr/>
          <p:nvPr/>
        </p:nvSpPr>
        <p:spPr>
          <a:xfrm>
            <a:off x="731520" y="1280160"/>
            <a:ext cx="5029200" cy="4572000"/>
          </a:xfrm>
          <a:prstGeom prst="roundRect">
            <a:avLst>
              <a:gd fmla="val 4000" name="adj"/>
            </a:avLst>
          </a:prstGeom>
          <a:solidFill>
            <a:srgbClr val="0D14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6"/>
          <p:cNvSpPr txBox="1"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 3 Steps</a:t>
            </a:r>
            <a:endParaRPr/>
          </a:p>
        </p:txBody>
      </p:sp>
      <p:sp>
        <p:nvSpPr>
          <p:cNvPr id="715" name="Google Shape;715;p36"/>
          <p:cNvSpPr/>
          <p:nvPr/>
        </p:nvSpPr>
        <p:spPr>
          <a:xfrm>
            <a:off x="914400" y="18288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6"/>
          <p:cNvSpPr/>
          <p:nvPr/>
        </p:nvSpPr>
        <p:spPr>
          <a:xfrm>
            <a:off x="1005840" y="19202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6"/>
          <p:cNvSpPr txBox="1"/>
          <p:nvPr/>
        </p:nvSpPr>
        <p:spPr>
          <a:xfrm>
            <a:off x="1051560" y="19385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1</a:t>
            </a:r>
            <a:endParaRPr/>
          </a:p>
        </p:txBody>
      </p:sp>
      <p:sp>
        <p:nvSpPr>
          <p:cNvPr id="718" name="Google Shape;718;p36"/>
          <p:cNvSpPr txBox="1"/>
          <p:nvPr/>
        </p:nvSpPr>
        <p:spPr>
          <a:xfrm>
            <a:off x="19202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EOA에 코드 위임</a:t>
            </a:r>
            <a:endParaRPr/>
          </a:p>
        </p:txBody>
      </p:sp>
      <p:sp>
        <p:nvSpPr>
          <p:cNvPr id="719" name="Google Shape;719;p36"/>
          <p:cNvSpPr txBox="1"/>
          <p:nvPr/>
        </p:nvSpPr>
        <p:spPr>
          <a:xfrm>
            <a:off x="1920240" y="2286000"/>
            <a:ext cx="32004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기존 EOA 주소 그대로 유지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00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컨트랙트</a:t>
            </a: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코드를 EOA에 위임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delegation tx 전송</a:t>
            </a:r>
            <a:endParaRPr/>
          </a:p>
        </p:txBody>
      </p:sp>
      <p:sp>
        <p:nvSpPr>
          <p:cNvPr id="720" name="Google Shape;720;p36"/>
          <p:cNvSpPr/>
          <p:nvPr/>
        </p:nvSpPr>
        <p:spPr>
          <a:xfrm>
            <a:off x="914400" y="32004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6"/>
          <p:cNvSpPr/>
          <p:nvPr/>
        </p:nvSpPr>
        <p:spPr>
          <a:xfrm>
            <a:off x="1005840" y="32918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6"/>
          <p:cNvSpPr txBox="1"/>
          <p:nvPr/>
        </p:nvSpPr>
        <p:spPr>
          <a:xfrm>
            <a:off x="1051560" y="3310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2</a:t>
            </a:r>
            <a:endParaRPr/>
          </a:p>
        </p:txBody>
      </p:sp>
      <p:sp>
        <p:nvSpPr>
          <p:cNvPr id="723" name="Google Shape;723;p36"/>
          <p:cNvSpPr txBox="1"/>
          <p:nvPr/>
        </p:nvSpPr>
        <p:spPr>
          <a:xfrm>
            <a:off x="192024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트랜잭션</a:t>
            </a:r>
            <a:endParaRPr/>
          </a:p>
        </p:txBody>
      </p:sp>
      <p:sp>
        <p:nvSpPr>
          <p:cNvPr id="724" name="Google Shape;724;p36"/>
          <p:cNvSpPr txBox="1"/>
          <p:nvPr/>
        </p:nvSpPr>
        <p:spPr>
          <a:xfrm>
            <a:off x="1920240" y="3657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여러 호출을 하나의 tx로 실행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예: approve + swap 한 번에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가스비 절약 + 원자적 실행</a:t>
            </a:r>
            <a:endParaRPr/>
          </a:p>
        </p:txBody>
      </p:sp>
      <p:sp>
        <p:nvSpPr>
          <p:cNvPr id="725" name="Google Shape;725;p36"/>
          <p:cNvSpPr/>
          <p:nvPr/>
        </p:nvSpPr>
        <p:spPr>
          <a:xfrm>
            <a:off x="914400" y="4572000"/>
            <a:ext cx="4663440" cy="118872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6"/>
          <p:cNvSpPr/>
          <p:nvPr/>
        </p:nvSpPr>
        <p:spPr>
          <a:xfrm>
            <a:off x="1005840" y="4663440"/>
            <a:ext cx="731520" cy="32004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6"/>
          <p:cNvSpPr txBox="1"/>
          <p:nvPr/>
        </p:nvSpPr>
        <p:spPr>
          <a:xfrm>
            <a:off x="1051560" y="46817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Step 3</a:t>
            </a:r>
            <a:endParaRPr/>
          </a:p>
        </p:txBody>
      </p:sp>
      <p:sp>
        <p:nvSpPr>
          <p:cNvPr id="728" name="Google Shape;728;p36"/>
          <p:cNvSpPr txBox="1"/>
          <p:nvPr/>
        </p:nvSpPr>
        <p:spPr>
          <a:xfrm>
            <a:off x="1920240" y="46634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DC7B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스폰서드 트랜잭션</a:t>
            </a:r>
            <a:endParaRPr/>
          </a:p>
        </p:txBody>
      </p:sp>
      <p:sp>
        <p:nvSpPr>
          <p:cNvPr id="729" name="Google Shape;729;p36"/>
          <p:cNvSpPr txBox="1"/>
          <p:nvPr/>
        </p:nvSpPr>
        <p:spPr>
          <a:xfrm>
            <a:off x="1920240" y="50292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다른 계정이 가스비 대납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EOA 사용자도 가스비 무료 체험</a:t>
            </a:r>
            <a:endParaRPr/>
          </a:p>
          <a:p>
            <a:pPr indent="0" lvl="0" marL="0" marR="0" rtl="0" algn="l">
              <a:spcBef>
                <a:spcPts val="299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기존 UX 개선 확인</a:t>
            </a:r>
            <a:endParaRPr/>
          </a:p>
        </p:txBody>
      </p:sp>
      <p:sp>
        <p:nvSpPr>
          <p:cNvPr id="730" name="Google Shape;730;p36"/>
          <p:cNvSpPr/>
          <p:nvPr/>
        </p:nvSpPr>
        <p:spPr>
          <a:xfrm>
            <a:off x="6217920" y="1280160"/>
            <a:ext cx="4846320" cy="27432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6"/>
          <p:cNvSpPr txBox="1"/>
          <p:nvPr/>
        </p:nvSpPr>
        <p:spPr>
          <a:xfrm>
            <a:off x="6492240" y="13716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체감 포인트</a:t>
            </a:r>
            <a:endParaRPr/>
          </a:p>
        </p:txBody>
      </p:sp>
      <p:sp>
        <p:nvSpPr>
          <p:cNvPr id="732" name="Google Shape;732;p36"/>
          <p:cNvSpPr txBox="1"/>
          <p:nvPr/>
        </p:nvSpPr>
        <p:spPr>
          <a:xfrm>
            <a:off x="6492240" y="1828800"/>
            <a:ext cx="42976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0E2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주소 유지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EOA 주소가 그대로 — 자산 이전 불필요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기존 토큰/NFT 그대로 사용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트랜잭션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approve + swap을 하나의 tx로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가스비 절약 + 실패 시 전체 롤백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BBBBB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기존 사용자의 점진적 업그레이드</a:t>
            </a:r>
            <a:endParaRPr/>
          </a:p>
        </p:txBody>
      </p:sp>
      <p:sp>
        <p:nvSpPr>
          <p:cNvPr id="733" name="Google Shape;733;p36"/>
          <p:cNvSpPr/>
          <p:nvPr/>
        </p:nvSpPr>
        <p:spPr>
          <a:xfrm>
            <a:off x="6217920" y="4206240"/>
            <a:ext cx="4846320" cy="1645920"/>
          </a:xfrm>
          <a:prstGeom prst="roundRect">
            <a:avLst>
              <a:gd fmla="val 4000" name="adj"/>
            </a:avLst>
          </a:prstGeom>
          <a:solidFill>
            <a:srgbClr val="0D1A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6"/>
          <p:cNvSpPr txBox="1"/>
          <p:nvPr/>
        </p:nvSpPr>
        <p:spPr>
          <a:xfrm>
            <a:off x="6492240" y="42976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EIP-7702를 선택하는 경우</a:t>
            </a:r>
            <a:endParaRPr/>
          </a:p>
        </p:txBody>
      </p:sp>
      <p:sp>
        <p:nvSpPr>
          <p:cNvPr id="735" name="Google Shape;735;p36"/>
          <p:cNvSpPr txBox="1"/>
          <p:nvPr/>
        </p:nvSpPr>
        <p:spPr>
          <a:xfrm>
            <a:off x="6492240" y="475488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기존 EOA 주소를 유지해야 할 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점진적 마이그레이션이 필요할 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배치 트랜잭션으로 UX 개선할 때</a:t>
            </a:r>
            <a:endParaRPr/>
          </a:p>
          <a:p>
            <a:pPr indent="0" lvl="0" marL="0" marR="0" rtl="0" algn="l">
              <a:spcBef>
                <a:spcPts val="359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새 계정 생성 없이 기능 추가할 때</a:t>
            </a:r>
            <a:endParaRPr/>
          </a:p>
        </p:txBody>
      </p:sp>
      <p:sp>
        <p:nvSpPr>
          <p:cNvPr id="736" name="Google Shape;736;p36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737" name="Google Shape;737;p36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27 / 29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7"/>
          <p:cNvSpPr/>
          <p:nvPr/>
        </p:nvSpPr>
        <p:spPr>
          <a:xfrm>
            <a:off x="731520" y="457200"/>
            <a:ext cx="9144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7"/>
          <p:cNvSpPr txBox="1"/>
          <p:nvPr/>
        </p:nvSpPr>
        <p:spPr>
          <a:xfrm>
            <a:off x="731520" y="5943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종합 &amp; 로드맵 제안</a:t>
            </a:r>
            <a:endParaRPr/>
          </a:p>
        </p:txBody>
      </p:sp>
      <p:sp>
        <p:nvSpPr>
          <p:cNvPr id="745" name="Google Shape;745;p37"/>
          <p:cNvSpPr/>
          <p:nvPr/>
        </p:nvSpPr>
        <p:spPr>
          <a:xfrm>
            <a:off x="731520" y="1280160"/>
            <a:ext cx="10728655" cy="228600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7"/>
          <p:cNvSpPr txBox="1"/>
          <p:nvPr/>
        </p:nvSpPr>
        <p:spPr>
          <a:xfrm>
            <a:off x="1005840" y="13716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 프로그레션 회고</a:t>
            </a:r>
            <a:endParaRPr/>
          </a:p>
        </p:txBody>
      </p:sp>
      <p:sp>
        <p:nvSpPr>
          <p:cNvPr id="747" name="Google Shape;747;p37"/>
          <p:cNvSpPr/>
          <p:nvPr/>
        </p:nvSpPr>
        <p:spPr>
          <a:xfrm>
            <a:off x="914400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E8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7"/>
          <p:cNvSpPr txBox="1"/>
          <p:nvPr/>
        </p:nvSpPr>
        <p:spPr>
          <a:xfrm>
            <a:off x="1005840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Lv.1</a:t>
            </a:r>
            <a:endParaRPr/>
          </a:p>
        </p:txBody>
      </p:sp>
      <p:sp>
        <p:nvSpPr>
          <p:cNvPr id="749" name="Google Shape;749;p37"/>
          <p:cNvSpPr txBox="1"/>
          <p:nvPr/>
        </p:nvSpPr>
        <p:spPr>
          <a:xfrm>
            <a:off x="1005840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EOA</a:t>
            </a:r>
            <a:endParaRPr/>
          </a:p>
        </p:txBody>
      </p:sp>
      <p:sp>
        <p:nvSpPr>
          <p:cNvPr id="750" name="Google Shape;750;p37"/>
          <p:cNvSpPr txBox="1"/>
          <p:nvPr/>
        </p:nvSpPr>
        <p:spPr>
          <a:xfrm>
            <a:off x="1005840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키</a:t>
            </a:r>
            <a:endParaRPr/>
          </a:p>
        </p:txBody>
      </p:sp>
      <p:sp>
        <p:nvSpPr>
          <p:cNvPr id="751" name="Google Shape;751;p37"/>
          <p:cNvSpPr txBox="1"/>
          <p:nvPr/>
        </p:nvSpPr>
        <p:spPr>
          <a:xfrm>
            <a:off x="246888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52" name="Google Shape;752;p37"/>
          <p:cNvSpPr/>
          <p:nvPr/>
        </p:nvSpPr>
        <p:spPr>
          <a:xfrm>
            <a:off x="2651760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7"/>
          <p:cNvSpPr txBox="1"/>
          <p:nvPr/>
        </p:nvSpPr>
        <p:spPr>
          <a:xfrm>
            <a:off x="2743200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Lv.2</a:t>
            </a:r>
            <a:endParaRPr/>
          </a:p>
        </p:txBody>
      </p:sp>
      <p:sp>
        <p:nvSpPr>
          <p:cNvPr id="754" name="Google Shape;754;p37"/>
          <p:cNvSpPr txBox="1"/>
          <p:nvPr/>
        </p:nvSpPr>
        <p:spPr>
          <a:xfrm>
            <a:off x="2743200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Multi-sig</a:t>
            </a:r>
            <a:endParaRPr/>
          </a:p>
        </p:txBody>
      </p:sp>
      <p:sp>
        <p:nvSpPr>
          <p:cNvPr id="755" name="Google Shape;755;p37"/>
          <p:cNvSpPr txBox="1"/>
          <p:nvPr/>
        </p:nvSpPr>
        <p:spPr>
          <a:xfrm>
            <a:off x="2743200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온체인 분산</a:t>
            </a:r>
            <a:endParaRPr/>
          </a:p>
        </p:txBody>
      </p:sp>
      <p:sp>
        <p:nvSpPr>
          <p:cNvPr id="756" name="Google Shape;756;p37"/>
          <p:cNvSpPr txBox="1"/>
          <p:nvPr/>
        </p:nvSpPr>
        <p:spPr>
          <a:xfrm>
            <a:off x="420624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57" name="Google Shape;757;p37"/>
          <p:cNvSpPr/>
          <p:nvPr/>
        </p:nvSpPr>
        <p:spPr>
          <a:xfrm>
            <a:off x="4389120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4A90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7"/>
          <p:cNvSpPr txBox="1"/>
          <p:nvPr/>
        </p:nvSpPr>
        <p:spPr>
          <a:xfrm>
            <a:off x="4480559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Lv.3</a:t>
            </a:r>
            <a:endParaRPr/>
          </a:p>
        </p:txBody>
      </p:sp>
      <p:sp>
        <p:nvSpPr>
          <p:cNvPr id="759" name="Google Shape;759;p37"/>
          <p:cNvSpPr txBox="1"/>
          <p:nvPr/>
        </p:nvSpPr>
        <p:spPr>
          <a:xfrm>
            <a:off x="4480559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MPC</a:t>
            </a:r>
            <a:endParaRPr/>
          </a:p>
        </p:txBody>
      </p:sp>
      <p:sp>
        <p:nvSpPr>
          <p:cNvPr id="760" name="Google Shape;760;p37"/>
          <p:cNvSpPr txBox="1"/>
          <p:nvPr/>
        </p:nvSpPr>
        <p:spPr>
          <a:xfrm>
            <a:off x="4480559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오프체인 분산</a:t>
            </a:r>
            <a:endParaRPr/>
          </a:p>
        </p:txBody>
      </p:sp>
      <p:sp>
        <p:nvSpPr>
          <p:cNvPr id="761" name="Google Shape;761;p37"/>
          <p:cNvSpPr txBox="1"/>
          <p:nvPr/>
        </p:nvSpPr>
        <p:spPr>
          <a:xfrm>
            <a:off x="594360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62" name="Google Shape;762;p37"/>
          <p:cNvSpPr/>
          <p:nvPr/>
        </p:nvSpPr>
        <p:spPr>
          <a:xfrm>
            <a:off x="6126479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3DC7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7"/>
          <p:cNvSpPr txBox="1"/>
          <p:nvPr/>
        </p:nvSpPr>
        <p:spPr>
          <a:xfrm>
            <a:off x="6217919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Lv.4</a:t>
            </a:r>
            <a:endParaRPr/>
          </a:p>
        </p:txBody>
      </p:sp>
      <p:sp>
        <p:nvSpPr>
          <p:cNvPr id="764" name="Google Shape;764;p37"/>
          <p:cNvSpPr txBox="1"/>
          <p:nvPr/>
        </p:nvSpPr>
        <p:spPr>
          <a:xfrm>
            <a:off x="6217919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</a:t>
            </a:r>
            <a:endParaRPr/>
          </a:p>
        </p:txBody>
      </p:sp>
      <p:sp>
        <p:nvSpPr>
          <p:cNvPr id="765" name="Google Shape;765;p37"/>
          <p:cNvSpPr txBox="1"/>
          <p:nvPr/>
        </p:nvSpPr>
        <p:spPr>
          <a:xfrm>
            <a:off x="6217919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하드웨어</a:t>
            </a:r>
            <a:endParaRPr/>
          </a:p>
        </p:txBody>
      </p:sp>
      <p:sp>
        <p:nvSpPr>
          <p:cNvPr id="766" name="Google Shape;766;p37"/>
          <p:cNvSpPr txBox="1"/>
          <p:nvPr/>
        </p:nvSpPr>
        <p:spPr>
          <a:xfrm>
            <a:off x="7680959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7863840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 txBox="1"/>
          <p:nvPr/>
        </p:nvSpPr>
        <p:spPr>
          <a:xfrm>
            <a:off x="7955279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Lv.5</a:t>
            </a:r>
            <a:endParaRPr/>
          </a:p>
        </p:txBody>
      </p:sp>
      <p:sp>
        <p:nvSpPr>
          <p:cNvPr id="769" name="Google Shape;769;p37"/>
          <p:cNvSpPr txBox="1"/>
          <p:nvPr/>
        </p:nvSpPr>
        <p:spPr>
          <a:xfrm>
            <a:off x="7955279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Quorum</a:t>
            </a:r>
            <a:endParaRPr/>
          </a:p>
        </p:txBody>
      </p:sp>
      <p:sp>
        <p:nvSpPr>
          <p:cNvPr id="770" name="Google Shape;770;p37"/>
          <p:cNvSpPr txBox="1"/>
          <p:nvPr/>
        </p:nvSpPr>
        <p:spPr>
          <a:xfrm>
            <a:off x="7955279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HW 다자승인</a:t>
            </a:r>
            <a:endParaRPr/>
          </a:p>
        </p:txBody>
      </p:sp>
      <p:sp>
        <p:nvSpPr>
          <p:cNvPr id="771" name="Google Shape;771;p37"/>
          <p:cNvSpPr txBox="1"/>
          <p:nvPr/>
        </p:nvSpPr>
        <p:spPr>
          <a:xfrm>
            <a:off x="9418319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72" name="Google Shape;772;p37"/>
          <p:cNvSpPr/>
          <p:nvPr/>
        </p:nvSpPr>
        <p:spPr>
          <a:xfrm>
            <a:off x="9601200" y="1737360"/>
            <a:ext cx="1554480" cy="128016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7"/>
          <p:cNvSpPr txBox="1"/>
          <p:nvPr/>
        </p:nvSpPr>
        <p:spPr>
          <a:xfrm>
            <a:off x="9692640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Lv.6</a:t>
            </a:r>
            <a:endParaRPr/>
          </a:p>
        </p:txBody>
      </p:sp>
      <p:sp>
        <p:nvSpPr>
          <p:cNvPr id="774" name="Google Shape;774;p37"/>
          <p:cNvSpPr txBox="1"/>
          <p:nvPr/>
        </p:nvSpPr>
        <p:spPr>
          <a:xfrm>
            <a:off x="9692640" y="2103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Ultimate</a:t>
            </a:r>
            <a:endParaRPr/>
          </a:p>
        </p:txBody>
      </p:sp>
      <p:sp>
        <p:nvSpPr>
          <p:cNvPr id="775" name="Google Shape;775;p37"/>
          <p:cNvSpPr txBox="1"/>
          <p:nvPr/>
        </p:nvSpPr>
        <p:spPr>
          <a:xfrm>
            <a:off x="9692640" y="2377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완전 결합</a:t>
            </a:r>
            <a:endParaRPr/>
          </a:p>
        </p:txBody>
      </p:sp>
      <p:sp>
        <p:nvSpPr>
          <p:cNvPr id="776" name="Google Shape;776;p37"/>
          <p:cNvSpPr/>
          <p:nvPr/>
        </p:nvSpPr>
        <p:spPr>
          <a:xfrm>
            <a:off x="731520" y="3840480"/>
            <a:ext cx="10728655" cy="2560320"/>
          </a:xfrm>
          <a:prstGeom prst="roundRect">
            <a:avLst>
              <a:gd fmla="val 4000" name="adj"/>
            </a:avLst>
          </a:prstGeom>
          <a:solidFill>
            <a:srgbClr val="1F17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1005840" y="3931920"/>
            <a:ext cx="1017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기관급 지갑 관리 방안 추천 로드맵</a:t>
            </a: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914400" y="4389120"/>
            <a:ext cx="3383280" cy="17373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1005840" y="4480560"/>
            <a:ext cx="822960" cy="640080"/>
          </a:xfrm>
          <a:prstGeom prst="roundRect">
            <a:avLst>
              <a:gd fmla="val 4000" name="adj"/>
            </a:avLst>
          </a:prstGeom>
          <a:solidFill>
            <a:srgbClr val="F5C5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7"/>
          <p:cNvSpPr txBox="1"/>
          <p:nvPr/>
        </p:nvSpPr>
        <p:spPr>
          <a:xfrm>
            <a:off x="1051560" y="45262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1</a:t>
            </a:r>
            <a:endParaRPr/>
          </a:p>
        </p:txBody>
      </p:sp>
      <p:sp>
        <p:nvSpPr>
          <p:cNvPr id="781" name="Google Shape;781;p37"/>
          <p:cNvSpPr txBox="1"/>
          <p:nvPr/>
        </p:nvSpPr>
        <p:spPr>
          <a:xfrm>
            <a:off x="1051560" y="47548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(3~6개월)</a:t>
            </a:r>
            <a:endParaRPr/>
          </a:p>
        </p:txBody>
      </p:sp>
      <p:sp>
        <p:nvSpPr>
          <p:cNvPr id="782" name="Google Shape;782;p37"/>
          <p:cNvSpPr txBox="1"/>
          <p:nvPr/>
        </p:nvSpPr>
        <p:spPr>
          <a:xfrm>
            <a:off x="1965960" y="4480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C542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 Multi-sig 도입</a:t>
            </a:r>
            <a:endParaRPr/>
          </a:p>
        </p:txBody>
      </p:sp>
      <p:sp>
        <p:nvSpPr>
          <p:cNvPr id="783" name="Google Shape;783;p37"/>
          <p:cNvSpPr txBox="1"/>
          <p:nvPr/>
        </p:nvSpPr>
        <p:spPr>
          <a:xfrm>
            <a:off x="1965960" y="48463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내부 자산관리 다자 승인 체계 구축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교체·Guardian 복구 활용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인력 2~3명, 인프라 비용 최소</a:t>
            </a:r>
            <a:endParaRPr/>
          </a:p>
        </p:txBody>
      </p:sp>
      <p:sp>
        <p:nvSpPr>
          <p:cNvPr id="784" name="Google Shape;784;p37"/>
          <p:cNvSpPr txBox="1"/>
          <p:nvPr/>
        </p:nvSpPr>
        <p:spPr>
          <a:xfrm>
            <a:off x="4297680" y="4937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85" name="Google Shape;785;p37"/>
          <p:cNvSpPr/>
          <p:nvPr/>
        </p:nvSpPr>
        <p:spPr>
          <a:xfrm>
            <a:off x="4480560" y="4389120"/>
            <a:ext cx="3383280" cy="17373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7"/>
          <p:cNvSpPr/>
          <p:nvPr/>
        </p:nvSpPr>
        <p:spPr>
          <a:xfrm>
            <a:off x="4572000" y="4480560"/>
            <a:ext cx="822960" cy="640080"/>
          </a:xfrm>
          <a:prstGeom prst="roundRect">
            <a:avLst>
              <a:gd fmla="val 4000" name="adj"/>
            </a:avLst>
          </a:prstGeom>
          <a:solidFill>
            <a:srgbClr val="9B6D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7"/>
          <p:cNvSpPr txBox="1"/>
          <p:nvPr/>
        </p:nvSpPr>
        <p:spPr>
          <a:xfrm>
            <a:off x="4617720" y="45262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2</a:t>
            </a:r>
            <a:endParaRPr/>
          </a:p>
        </p:txBody>
      </p:sp>
      <p:sp>
        <p:nvSpPr>
          <p:cNvPr id="788" name="Google Shape;788;p37"/>
          <p:cNvSpPr txBox="1"/>
          <p:nvPr/>
        </p:nvSpPr>
        <p:spPr>
          <a:xfrm>
            <a:off x="4617720" y="47548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(6~12개월)</a:t>
            </a:r>
            <a:endParaRPr/>
          </a:p>
        </p:txBody>
      </p:sp>
      <p:sp>
        <p:nvSpPr>
          <p:cNvPr id="789" name="Google Shape;789;p37"/>
          <p:cNvSpPr txBox="1"/>
          <p:nvPr/>
        </p:nvSpPr>
        <p:spPr>
          <a:xfrm>
            <a:off x="5532120" y="4480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B6DE8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 / Quorum HSM 연동</a:t>
            </a:r>
            <a:endParaRPr/>
          </a:p>
        </p:txBody>
      </p:sp>
      <p:sp>
        <p:nvSpPr>
          <p:cNvPr id="790" name="Google Shape;790;p37"/>
          <p:cNvSpPr txBox="1"/>
          <p:nvPr/>
        </p:nvSpPr>
        <p:spPr>
          <a:xfrm>
            <a:off x="5532120" y="48463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Securosys 파일럿 (PoC 3개월)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SKA N-of-M 하드웨어 다자 승인 적용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HSM 인프라 도입 예산 필요</a:t>
            </a:r>
            <a:endParaRPr/>
          </a:p>
        </p:txBody>
      </p:sp>
      <p:sp>
        <p:nvSpPr>
          <p:cNvPr id="791" name="Google Shape;791;p37"/>
          <p:cNvSpPr txBox="1"/>
          <p:nvPr/>
        </p:nvSpPr>
        <p:spPr>
          <a:xfrm>
            <a:off x="7863840" y="49377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792" name="Google Shape;792;p37"/>
          <p:cNvSpPr/>
          <p:nvPr/>
        </p:nvSpPr>
        <p:spPr>
          <a:xfrm>
            <a:off x="8046720" y="4389120"/>
            <a:ext cx="3383280" cy="17373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7"/>
          <p:cNvSpPr/>
          <p:nvPr/>
        </p:nvSpPr>
        <p:spPr>
          <a:xfrm>
            <a:off x="8138160" y="4480560"/>
            <a:ext cx="822960" cy="640080"/>
          </a:xfrm>
          <a:prstGeom prst="roundRect">
            <a:avLst>
              <a:gd fmla="val 4000" name="adj"/>
            </a:avLst>
          </a:prstGeom>
          <a:solidFill>
            <a:srgbClr val="34C7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7"/>
          <p:cNvSpPr txBox="1"/>
          <p:nvPr/>
        </p:nvSpPr>
        <p:spPr>
          <a:xfrm>
            <a:off x="8183880" y="45262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Phase 3</a:t>
            </a:r>
            <a:endParaRPr/>
          </a:p>
        </p:txBody>
      </p:sp>
      <p:sp>
        <p:nvSpPr>
          <p:cNvPr id="795" name="Google Shape;795;p37"/>
          <p:cNvSpPr txBox="1"/>
          <p:nvPr/>
        </p:nvSpPr>
        <p:spPr>
          <a:xfrm>
            <a:off x="8183880" y="475488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(12~24개월)</a:t>
            </a:r>
            <a:endParaRPr/>
          </a:p>
        </p:txBody>
      </p:sp>
      <p:sp>
        <p:nvSpPr>
          <p:cNvPr id="796" name="Google Shape;796;p37"/>
          <p:cNvSpPr txBox="1"/>
          <p:nvPr/>
        </p:nvSpPr>
        <p:spPr>
          <a:xfrm>
            <a:off x="9098280" y="4480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C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6 완전 구현</a:t>
            </a:r>
            <a:endParaRPr/>
          </a:p>
        </p:txBody>
      </p:sp>
      <p:sp>
        <p:nvSpPr>
          <p:cNvPr id="797" name="Google Shape;797;p37"/>
          <p:cNvSpPr txBox="1"/>
          <p:nvPr/>
        </p:nvSpPr>
        <p:spPr>
          <a:xfrm>
            <a:off x="9098280" y="484632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+ Quorum HSM + Smart Account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ERC-4337/EIP-7702 서비스 구축</a:t>
            </a:r>
            <a:b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0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대면 서비스 런칭</a:t>
            </a:r>
            <a:endParaRPr/>
          </a:p>
        </p:txBody>
      </p:sp>
      <p:sp>
        <p:nvSpPr>
          <p:cNvPr id="798" name="Google Shape;798;p37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799" name="Google Shape;799;p37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28 / 29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/>
          <p:nvPr/>
        </p:nvSpPr>
        <p:spPr>
          <a:xfrm>
            <a:off x="731520" y="1371600"/>
            <a:ext cx="1828800" cy="45720"/>
          </a:xfrm>
          <a:prstGeom prst="rect">
            <a:avLst/>
          </a:prstGeom>
          <a:solidFill>
            <a:srgbClr val="F96D1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8"/>
          <p:cNvSpPr txBox="1"/>
          <p:nvPr/>
        </p:nvSpPr>
        <p:spPr>
          <a:xfrm>
            <a:off x="731520" y="1554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메시지</a:t>
            </a:r>
            <a:endParaRPr/>
          </a:p>
        </p:txBody>
      </p:sp>
      <p:sp>
        <p:nvSpPr>
          <p:cNvPr id="807" name="Google Shape;807;p38"/>
          <p:cNvSpPr/>
          <p:nvPr/>
        </p:nvSpPr>
        <p:spPr>
          <a:xfrm>
            <a:off x="731520" y="2468880"/>
            <a:ext cx="10728655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8"/>
          <p:cNvSpPr txBox="1"/>
          <p:nvPr/>
        </p:nvSpPr>
        <p:spPr>
          <a:xfrm>
            <a:off x="1005840" y="25146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1.</a:t>
            </a:r>
            <a:endParaRPr/>
          </a:p>
        </p:txBody>
      </p:sp>
      <p:sp>
        <p:nvSpPr>
          <p:cNvPr id="809" name="Google Shape;809;p38"/>
          <p:cNvSpPr txBox="1"/>
          <p:nvPr/>
        </p:nvSpPr>
        <p:spPr>
          <a:xfrm>
            <a:off x="1554480" y="25146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블록체인 보안은 '키 관리'가 아니라 '키 아키텍처'다</a:t>
            </a:r>
            <a:endParaRPr/>
          </a:p>
        </p:txBody>
      </p:sp>
      <p:sp>
        <p:nvSpPr>
          <p:cNvPr id="810" name="Google Shape;810;p38"/>
          <p:cNvSpPr txBox="1"/>
          <p:nvPr/>
        </p:nvSpPr>
        <p:spPr>
          <a:xfrm>
            <a:off x="1554480" y="28803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보관 장소가 아니라, 서명·승인·복구·감사의 전체 설계</a:t>
            </a:r>
            <a:endParaRPr/>
          </a:p>
        </p:txBody>
      </p:sp>
      <p:sp>
        <p:nvSpPr>
          <p:cNvPr id="811" name="Google Shape;811;p38"/>
          <p:cNvSpPr/>
          <p:nvPr/>
        </p:nvSpPr>
        <p:spPr>
          <a:xfrm>
            <a:off x="731520" y="3474720"/>
            <a:ext cx="10728655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8"/>
          <p:cNvSpPr txBox="1"/>
          <p:nvPr/>
        </p:nvSpPr>
        <p:spPr>
          <a:xfrm>
            <a:off x="1005840" y="35204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endParaRPr/>
          </a:p>
        </p:txBody>
      </p:sp>
      <p:sp>
        <p:nvSpPr>
          <p:cNvPr id="813" name="Google Shape;813;p38"/>
          <p:cNvSpPr txBox="1"/>
          <p:nvPr/>
        </p:nvSpPr>
        <p:spPr>
          <a:xfrm>
            <a:off x="1554480" y="35204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보안 레벨은 단계적으로 상승시킬 수 있다</a:t>
            </a:r>
            <a:endParaRPr/>
          </a:p>
        </p:txBody>
      </p:sp>
      <p:sp>
        <p:nvSpPr>
          <p:cNvPr id="814" name="Google Shape;814;p38"/>
          <p:cNvSpPr txBox="1"/>
          <p:nvPr/>
        </p:nvSpPr>
        <p:spPr>
          <a:xfrm>
            <a:off x="1554480" y="3886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Level 1→6, 비용과 보안의 균형을 찾아 도입</a:t>
            </a:r>
            <a:endParaRPr/>
          </a:p>
        </p:txBody>
      </p:sp>
      <p:sp>
        <p:nvSpPr>
          <p:cNvPr id="815" name="Google Shape;815;p38"/>
          <p:cNvSpPr/>
          <p:nvPr/>
        </p:nvSpPr>
        <p:spPr>
          <a:xfrm>
            <a:off x="731520" y="4480560"/>
            <a:ext cx="10728655" cy="822960"/>
          </a:xfrm>
          <a:prstGeom prst="roundRect">
            <a:avLst>
              <a:gd fmla="val 4000" name="adj"/>
            </a:avLst>
          </a:prstGeom>
          <a:solidFill>
            <a:srgbClr val="1A1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8"/>
          <p:cNvSpPr txBox="1"/>
          <p:nvPr/>
        </p:nvSpPr>
        <p:spPr>
          <a:xfrm>
            <a:off x="1005840" y="45262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3.</a:t>
            </a:r>
            <a:endParaRPr/>
          </a:p>
        </p:txBody>
      </p:sp>
      <p:sp>
        <p:nvSpPr>
          <p:cNvPr id="817" name="Google Shape;817;p38"/>
          <p:cNvSpPr txBox="1"/>
          <p:nvPr/>
        </p:nvSpPr>
        <p:spPr>
          <a:xfrm>
            <a:off x="1554480" y="45262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궁극의 모델은 이미 실현 가능하다</a:t>
            </a:r>
            <a:endParaRPr/>
          </a:p>
        </p:txBody>
      </p:sp>
      <p:sp>
        <p:nvSpPr>
          <p:cNvPr id="818" name="Google Shape;818;p38"/>
          <p:cNvSpPr txBox="1"/>
          <p:nvPr/>
        </p:nvSpPr>
        <p:spPr>
          <a:xfrm>
            <a:off x="1554480" y="4892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BBBBB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PassKey + Quorum HSM + Smart Account — SIX, OSL 등 검증 완료</a:t>
            </a:r>
            <a:endParaRPr/>
          </a:p>
        </p:txBody>
      </p:sp>
      <p:sp>
        <p:nvSpPr>
          <p:cNvPr id="819" name="Google Shape;819;p38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820" name="Google Shape;820;p38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29 / 29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9"/>
          <p:cNvSpPr txBox="1"/>
          <p:nvPr/>
        </p:nvSpPr>
        <p:spPr>
          <a:xfrm>
            <a:off x="3890688" y="2641474"/>
            <a:ext cx="441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96D17"/>
                </a:solidFill>
                <a:latin typeface="Malgun Gothic"/>
                <a:ea typeface="Malgun Gothic"/>
                <a:cs typeface="Malgun Gothic"/>
                <a:sym typeface="Malgun Gothic"/>
              </a:rPr>
              <a:t>Q &amp; A</a:t>
            </a:r>
            <a:endParaRPr sz="2500"/>
          </a:p>
        </p:txBody>
      </p:sp>
      <p:sp>
        <p:nvSpPr>
          <p:cNvPr id="827" name="Google Shape;827;p39"/>
          <p:cNvSpPr txBox="1"/>
          <p:nvPr/>
        </p:nvSpPr>
        <p:spPr>
          <a:xfrm>
            <a:off x="731520" y="6492240"/>
            <a:ext cx="3657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한화증권 · KODA</a:t>
            </a:r>
            <a:endParaRPr/>
          </a:p>
        </p:txBody>
      </p:sp>
      <p:sp>
        <p:nvSpPr>
          <p:cNvPr id="828" name="Google Shape;828;p39"/>
          <p:cNvSpPr txBox="1"/>
          <p:nvPr/>
        </p:nvSpPr>
        <p:spPr>
          <a:xfrm>
            <a:off x="10362895" y="6492240"/>
            <a:ext cx="1371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Malgun Gothic"/>
                <a:ea typeface="Malgun Gothic"/>
                <a:cs typeface="Malgun Gothic"/>
                <a:sym typeface="Malgun Gothic"/>
              </a:rPr>
              <a:t>29 / 29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